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firstSlideNum="0" strictFirstAndLastChars="0" saveSubsetFonts="1">
  <p:sldMasterIdLst>
    <p:sldMasterId id="2147483648" r:id="rId4"/>
    <p:sldMasterId id="2147483655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3205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  <p:ext uri="GoogleSlidesCustomDataVersion2">
      <go:slidesCustomData xmlns:go="http://customooxmlschemas.google.com/" r:id="rId20" roundtripDataSignature="AMtx7mh/CX32GAnk70X2tQKsVatv4IOdY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205"/>
        <p:guide pos="2160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zh-TW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2" name="Google Shape;122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0" name="Google Shape;130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9" name="Google Shape;13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0" name="Google Shape;15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1" name="Google Shape;16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1" name="Google Shape;171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0" name="Google Shape;18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8" name="Google Shape;18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7" name="Google Shape;19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7" name="Google Shape;20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5" name="Google Shape;215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4" name="Google Shape;224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eda51beda4_2_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1" name="Google Shape;241;g3eda51beda4_2_6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g3eda51beda4_2_6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8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8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8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8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8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Relationship Id="rId3" Type="http://schemas.openxmlformats.org/officeDocument/2006/relationships/image" Target="../media/image8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8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8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8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6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8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首頁">
  <p:cSld name="首頁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4"/>
          <p:cNvSpPr txBox="1"/>
          <p:nvPr>
            <p:ph idx="1" type="body"/>
          </p:nvPr>
        </p:nvSpPr>
        <p:spPr>
          <a:xfrm>
            <a:off x="528737" y="1497008"/>
            <a:ext cx="5316164" cy="16494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4000"/>
              <a:buNone/>
              <a:defRPr b="1" sz="4000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solidFill>
                  <a:schemeClr val="dk1"/>
                </a:solidFill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" name="Google Shape;17;p14"/>
          <p:cNvSpPr txBox="1"/>
          <p:nvPr>
            <p:ph idx="2" type="body"/>
          </p:nvPr>
        </p:nvSpPr>
        <p:spPr>
          <a:xfrm>
            <a:off x="528735" y="3303356"/>
            <a:ext cx="5316160" cy="1016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sz="2000">
                <a:solidFill>
                  <a:schemeClr val="accent1"/>
                </a:solidFill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solidFill>
                  <a:schemeClr val="dk1"/>
                </a:solidFill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9" name="Google Shape;19;p14"/>
          <p:cNvPicPr preferRelativeResize="0"/>
          <p:nvPr/>
        </p:nvPicPr>
        <p:blipFill rotWithShape="1">
          <a:blip r:embed="rId2">
            <a:alphaModFix/>
          </a:blip>
          <a:srcRect b="1" l="24935" r="18109" t="1"/>
          <a:stretch/>
        </p:blipFill>
        <p:spPr>
          <a:xfrm>
            <a:off x="5846359" y="1"/>
            <a:ext cx="6345641" cy="619941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" name="Google Shape;20;p14"/>
          <p:cNvCxnSpPr/>
          <p:nvPr/>
        </p:nvCxnSpPr>
        <p:spPr>
          <a:xfrm>
            <a:off x="5844895" y="0"/>
            <a:ext cx="0" cy="6200173"/>
          </a:xfrm>
          <a:prstGeom prst="straightConnector1">
            <a:avLst/>
          </a:prstGeom>
          <a:noFill/>
          <a:ln cap="flat" cmpd="sng" w="9525">
            <a:solidFill>
              <a:srgbClr val="8C8C8C"/>
            </a:solidFill>
            <a:prstDash val="solid"/>
            <a:miter lim="0"/>
            <a:headEnd len="sm" w="sm" type="none"/>
            <a:tailEnd len="sm" w="sm" type="none"/>
          </a:ln>
        </p:spPr>
      </p:cxnSp>
      <p:cxnSp>
        <p:nvCxnSpPr>
          <p:cNvPr id="21" name="Google Shape;21;p14"/>
          <p:cNvCxnSpPr/>
          <p:nvPr/>
        </p:nvCxnSpPr>
        <p:spPr>
          <a:xfrm rot="10800000">
            <a:off x="0" y="6200046"/>
            <a:ext cx="12192000" cy="0"/>
          </a:xfrm>
          <a:prstGeom prst="straightConnector1">
            <a:avLst/>
          </a:prstGeom>
          <a:noFill/>
          <a:ln cap="flat" cmpd="sng" w="9525">
            <a:solidFill>
              <a:srgbClr val="8C8C8C"/>
            </a:solidFill>
            <a:prstDash val="solid"/>
            <a:miter lim="0"/>
            <a:headEnd len="sm" w="sm" type="none"/>
            <a:tailEnd len="sm" w="sm" type="none"/>
          </a:ln>
        </p:spPr>
      </p:cxnSp>
      <p:pic>
        <p:nvPicPr>
          <p:cNvPr id="22" name="Google Shape;2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0380" y="686105"/>
            <a:ext cx="2436594" cy="2070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和內容">
  <p:cSld name="標題和內容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oogle Shape;24;p15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 rot="5400000">
            <a:off x="10451769" y="0"/>
            <a:ext cx="1740231" cy="1740231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26" name="Google Shape;26;p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27" name="Google Shape;27;p15"/>
          <p:cNvCxnSpPr/>
          <p:nvPr/>
        </p:nvCxnSpPr>
        <p:spPr>
          <a:xfrm rot="10800000">
            <a:off x="-3" y="1326017"/>
            <a:ext cx="12192000" cy="0"/>
          </a:xfrm>
          <a:prstGeom prst="straightConnector1">
            <a:avLst/>
          </a:prstGeom>
          <a:noFill/>
          <a:ln cap="flat" cmpd="sng" w="9525">
            <a:solidFill>
              <a:srgbClr val="8C8C8C"/>
            </a:solidFill>
            <a:prstDash val="solid"/>
            <a:miter lim="0"/>
            <a:headEnd len="sm" w="sm" type="none"/>
            <a:tailEnd len="sm" w="sm" type="none"/>
          </a:ln>
        </p:spPr>
      </p:cxnSp>
      <p:cxnSp>
        <p:nvCxnSpPr>
          <p:cNvPr id="28" name="Google Shape;28;p15"/>
          <p:cNvCxnSpPr/>
          <p:nvPr/>
        </p:nvCxnSpPr>
        <p:spPr>
          <a:xfrm rot="10800000">
            <a:off x="-10636" y="6335084"/>
            <a:ext cx="12192000" cy="0"/>
          </a:xfrm>
          <a:prstGeom prst="straightConnector1">
            <a:avLst/>
          </a:prstGeom>
          <a:noFill/>
          <a:ln cap="flat" cmpd="sng" w="9525">
            <a:solidFill>
              <a:srgbClr val="8C8C8C"/>
            </a:solidFill>
            <a:prstDash val="solid"/>
            <a:miter lim="0"/>
            <a:headEnd len="sm" w="sm" type="none"/>
            <a:tailEnd len="sm" w="sm" type="none"/>
          </a:ln>
        </p:spPr>
      </p:cxnSp>
      <p:sp>
        <p:nvSpPr>
          <p:cNvPr id="29" name="Google Shape;29;p15"/>
          <p:cNvSpPr txBox="1"/>
          <p:nvPr>
            <p:ph type="title"/>
          </p:nvPr>
        </p:nvSpPr>
        <p:spPr>
          <a:xfrm>
            <a:off x="838200" y="254302"/>
            <a:ext cx="10515600" cy="95204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venir"/>
              <a:buNone/>
              <a:defRPr>
                <a:latin typeface="Avenir"/>
                <a:ea typeface="Avenir"/>
                <a:cs typeface="Avenir"/>
                <a:sym typeface="Aveni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5"/>
          <p:cNvSpPr txBox="1"/>
          <p:nvPr>
            <p:ph idx="2" type="body"/>
          </p:nvPr>
        </p:nvSpPr>
        <p:spPr>
          <a:xfrm>
            <a:off x="838196" y="1027251"/>
            <a:ext cx="10515599" cy="2987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31" name="Google Shape;3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5192" y="6594664"/>
            <a:ext cx="1492464" cy="1268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僅標題">
  <p:cSld name="僅標題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Google Shape;33;p16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 rot="5400000">
            <a:off x="10451769" y="0"/>
            <a:ext cx="1740231" cy="1740231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cxnSp>
        <p:nvCxnSpPr>
          <p:cNvPr id="35" name="Google Shape;35;p16"/>
          <p:cNvCxnSpPr/>
          <p:nvPr/>
        </p:nvCxnSpPr>
        <p:spPr>
          <a:xfrm rot="10800000">
            <a:off x="-3" y="1326017"/>
            <a:ext cx="12192000" cy="0"/>
          </a:xfrm>
          <a:prstGeom prst="straightConnector1">
            <a:avLst/>
          </a:prstGeom>
          <a:noFill/>
          <a:ln cap="flat" cmpd="sng" w="9525">
            <a:solidFill>
              <a:srgbClr val="8C8C8C"/>
            </a:solidFill>
            <a:prstDash val="solid"/>
            <a:miter lim="0"/>
            <a:headEnd len="sm" w="sm" type="none"/>
            <a:tailEnd len="sm" w="sm" type="none"/>
          </a:ln>
        </p:spPr>
      </p:cxnSp>
      <p:cxnSp>
        <p:nvCxnSpPr>
          <p:cNvPr id="36" name="Google Shape;36;p16"/>
          <p:cNvCxnSpPr/>
          <p:nvPr/>
        </p:nvCxnSpPr>
        <p:spPr>
          <a:xfrm rot="10800000">
            <a:off x="-10636" y="6335084"/>
            <a:ext cx="12192000" cy="0"/>
          </a:xfrm>
          <a:prstGeom prst="straightConnector1">
            <a:avLst/>
          </a:prstGeom>
          <a:noFill/>
          <a:ln cap="flat" cmpd="sng" w="9525">
            <a:solidFill>
              <a:srgbClr val="8C8C8C"/>
            </a:solidFill>
            <a:prstDash val="solid"/>
            <a:miter lim="0"/>
            <a:headEnd len="sm" w="sm" type="none"/>
            <a:tailEnd len="sm" w="sm" type="none"/>
          </a:ln>
        </p:spPr>
      </p:cxnSp>
      <p:sp>
        <p:nvSpPr>
          <p:cNvPr id="37" name="Google Shape;37;p16"/>
          <p:cNvSpPr txBox="1"/>
          <p:nvPr>
            <p:ph type="title"/>
          </p:nvPr>
        </p:nvSpPr>
        <p:spPr>
          <a:xfrm>
            <a:off x="838200" y="254302"/>
            <a:ext cx="10515600" cy="95204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venir"/>
              <a:buNone/>
              <a:defRPr>
                <a:latin typeface="Avenir"/>
                <a:ea typeface="Avenir"/>
                <a:cs typeface="Avenir"/>
                <a:sym typeface="Aveni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8" name="Google Shape;3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5192" y="6594664"/>
            <a:ext cx="1492464" cy="1268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和副標">
  <p:cSld name="標題和副標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Google Shape;40;p17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 rot="5400000">
            <a:off x="10451769" y="0"/>
            <a:ext cx="1740231" cy="1740231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cxnSp>
        <p:nvCxnSpPr>
          <p:cNvPr id="42" name="Google Shape;42;p17"/>
          <p:cNvCxnSpPr/>
          <p:nvPr/>
        </p:nvCxnSpPr>
        <p:spPr>
          <a:xfrm rot="10800000">
            <a:off x="-3" y="1326017"/>
            <a:ext cx="12192000" cy="0"/>
          </a:xfrm>
          <a:prstGeom prst="straightConnector1">
            <a:avLst/>
          </a:prstGeom>
          <a:noFill/>
          <a:ln cap="flat" cmpd="sng" w="9525">
            <a:solidFill>
              <a:srgbClr val="8C8C8C"/>
            </a:solidFill>
            <a:prstDash val="solid"/>
            <a:miter lim="0"/>
            <a:headEnd len="sm" w="sm" type="none"/>
            <a:tailEnd len="sm" w="sm" type="none"/>
          </a:ln>
        </p:spPr>
      </p:cxnSp>
      <p:cxnSp>
        <p:nvCxnSpPr>
          <p:cNvPr id="43" name="Google Shape;43;p17"/>
          <p:cNvCxnSpPr/>
          <p:nvPr/>
        </p:nvCxnSpPr>
        <p:spPr>
          <a:xfrm rot="10800000">
            <a:off x="-10636" y="6335084"/>
            <a:ext cx="12192000" cy="0"/>
          </a:xfrm>
          <a:prstGeom prst="straightConnector1">
            <a:avLst/>
          </a:prstGeom>
          <a:noFill/>
          <a:ln cap="flat" cmpd="sng" w="9525">
            <a:solidFill>
              <a:srgbClr val="8C8C8C"/>
            </a:solidFill>
            <a:prstDash val="solid"/>
            <a:miter lim="0"/>
            <a:headEnd len="sm" w="sm" type="none"/>
            <a:tailEnd len="sm" w="sm" type="none"/>
          </a:ln>
        </p:spPr>
      </p:cxnSp>
      <p:sp>
        <p:nvSpPr>
          <p:cNvPr id="44" name="Google Shape;44;p17"/>
          <p:cNvSpPr txBox="1"/>
          <p:nvPr>
            <p:ph type="title"/>
          </p:nvPr>
        </p:nvSpPr>
        <p:spPr>
          <a:xfrm>
            <a:off x="838200" y="254302"/>
            <a:ext cx="10515600" cy="95204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venir"/>
              <a:buNone/>
              <a:defRPr>
                <a:latin typeface="Avenir"/>
                <a:ea typeface="Avenir"/>
                <a:cs typeface="Avenir"/>
                <a:sym typeface="Aveni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7"/>
          <p:cNvSpPr txBox="1"/>
          <p:nvPr>
            <p:ph idx="1" type="body"/>
          </p:nvPr>
        </p:nvSpPr>
        <p:spPr>
          <a:xfrm>
            <a:off x="838196" y="1027251"/>
            <a:ext cx="10515599" cy="2987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46" name="Google Shape;4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5192" y="6594664"/>
            <a:ext cx="1492464" cy="1268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_黑">
  <p:cSld name="空白_黑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cxnSp>
        <p:nvCxnSpPr>
          <p:cNvPr id="49" name="Google Shape;49;p18"/>
          <p:cNvCxnSpPr/>
          <p:nvPr/>
        </p:nvCxnSpPr>
        <p:spPr>
          <a:xfrm rot="10800000">
            <a:off x="-10636" y="6335084"/>
            <a:ext cx="12192000" cy="0"/>
          </a:xfrm>
          <a:prstGeom prst="straightConnector1">
            <a:avLst/>
          </a:prstGeom>
          <a:noFill/>
          <a:ln cap="flat" cmpd="sng" w="9525">
            <a:solidFill>
              <a:srgbClr val="8C8C8C"/>
            </a:solidFill>
            <a:prstDash val="solid"/>
            <a:miter lim="0"/>
            <a:headEnd len="sm" w="sm" type="none"/>
            <a:tailEnd len="sm" w="sm" type="none"/>
          </a:ln>
        </p:spPr>
      </p:cxnSp>
      <p:pic>
        <p:nvPicPr>
          <p:cNvPr id="50" name="Google Shape;50;p18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 rot="5400000">
            <a:off x="10451769" y="0"/>
            <a:ext cx="1740231" cy="1740231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18"/>
          <p:cNvSpPr txBox="1"/>
          <p:nvPr>
            <p:ph type="title"/>
          </p:nvPr>
        </p:nvSpPr>
        <p:spPr>
          <a:xfrm>
            <a:off x="838200" y="254302"/>
            <a:ext cx="10515600" cy="95204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venir"/>
              <a:buNone/>
              <a:defRPr>
                <a:latin typeface="Avenir"/>
                <a:ea typeface="Avenir"/>
                <a:cs typeface="Avenir"/>
                <a:sym typeface="Aveni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5192" y="6594664"/>
            <a:ext cx="1492464" cy="1268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主題版">
  <p:cSld name="主題版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9"/>
          <p:cNvSpPr/>
          <p:nvPr>
            <p:ph idx="2" type="pic"/>
          </p:nvPr>
        </p:nvSpPr>
        <p:spPr>
          <a:xfrm>
            <a:off x="7391400" y="0"/>
            <a:ext cx="4800600" cy="6901538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19"/>
          <p:cNvSpPr txBox="1"/>
          <p:nvPr>
            <p:ph type="title"/>
          </p:nvPr>
        </p:nvSpPr>
        <p:spPr>
          <a:xfrm>
            <a:off x="1009630" y="2359404"/>
            <a:ext cx="6096000" cy="801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venir"/>
              <a:buNone/>
              <a:defRPr>
                <a:latin typeface="Avenir"/>
                <a:ea typeface="Avenir"/>
                <a:cs typeface="Avenir"/>
                <a:sym typeface="Aveni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9"/>
          <p:cNvSpPr txBox="1"/>
          <p:nvPr>
            <p:ph idx="1" type="body"/>
          </p:nvPr>
        </p:nvSpPr>
        <p:spPr>
          <a:xfrm>
            <a:off x="1009630" y="3160428"/>
            <a:ext cx="4521200" cy="5371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57" name="Google Shape;57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85192" y="6594664"/>
            <a:ext cx="1492464" cy="1268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首頁">
  <p:cSld name="首頁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eda51beda4_2_6"/>
          <p:cNvSpPr txBox="1"/>
          <p:nvPr>
            <p:ph idx="1" type="body"/>
          </p:nvPr>
        </p:nvSpPr>
        <p:spPr>
          <a:xfrm>
            <a:off x="528737" y="1497008"/>
            <a:ext cx="5316164" cy="16494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4000"/>
              <a:buNone/>
              <a:defRPr b="1" sz="4000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solidFill>
                  <a:schemeClr val="dk1"/>
                </a:solidFill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6" name="Google Shape;66;g3eda51beda4_2_6"/>
          <p:cNvSpPr txBox="1"/>
          <p:nvPr>
            <p:ph idx="2" type="body"/>
          </p:nvPr>
        </p:nvSpPr>
        <p:spPr>
          <a:xfrm>
            <a:off x="528735" y="3303356"/>
            <a:ext cx="5316160" cy="1016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sz="2000">
                <a:solidFill>
                  <a:schemeClr val="accent1"/>
                </a:solidFill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solidFill>
                  <a:schemeClr val="dk1"/>
                </a:solidFill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7" name="Google Shape;67;g3eda51beda4_2_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accen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68" name="Google Shape;68;g3eda51beda4_2_6"/>
          <p:cNvPicPr preferRelativeResize="0"/>
          <p:nvPr/>
        </p:nvPicPr>
        <p:blipFill rotWithShape="1">
          <a:blip r:embed="rId2">
            <a:alphaModFix/>
          </a:blip>
          <a:srcRect b="1" l="24935" r="18109" t="1"/>
          <a:stretch/>
        </p:blipFill>
        <p:spPr>
          <a:xfrm>
            <a:off x="5846359" y="1"/>
            <a:ext cx="6345641" cy="619941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9" name="Google Shape;69;g3eda51beda4_2_6"/>
          <p:cNvCxnSpPr/>
          <p:nvPr/>
        </p:nvCxnSpPr>
        <p:spPr>
          <a:xfrm>
            <a:off x="5844895" y="0"/>
            <a:ext cx="0" cy="6200173"/>
          </a:xfrm>
          <a:prstGeom prst="straightConnector1">
            <a:avLst/>
          </a:prstGeom>
          <a:noFill/>
          <a:ln cap="flat" cmpd="sng" w="9525">
            <a:solidFill>
              <a:srgbClr val="8C8C8C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70" name="Google Shape;70;g3eda51beda4_2_6"/>
          <p:cNvCxnSpPr/>
          <p:nvPr/>
        </p:nvCxnSpPr>
        <p:spPr>
          <a:xfrm rot="10800000">
            <a:off x="0" y="6200046"/>
            <a:ext cx="12192000" cy="0"/>
          </a:xfrm>
          <a:prstGeom prst="straightConnector1">
            <a:avLst/>
          </a:prstGeom>
          <a:noFill/>
          <a:ln cap="flat" cmpd="sng" w="9525">
            <a:solidFill>
              <a:srgbClr val="8C8C8C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id="71" name="Google Shape;71;g3eda51beda4_2_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0380" y="686105"/>
            <a:ext cx="2436594" cy="2070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僅標題">
  <p:cSld name="僅標題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Google Shape;73;g3eda51beda4_2_14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 rot="5400000">
            <a:off x="10451769" y="0"/>
            <a:ext cx="1740231" cy="1740231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g3eda51beda4_2_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cxnSp>
        <p:nvCxnSpPr>
          <p:cNvPr id="75" name="Google Shape;75;g3eda51beda4_2_14"/>
          <p:cNvCxnSpPr/>
          <p:nvPr/>
        </p:nvCxnSpPr>
        <p:spPr>
          <a:xfrm rot="10800000">
            <a:off x="-3" y="1326017"/>
            <a:ext cx="12192000" cy="0"/>
          </a:xfrm>
          <a:prstGeom prst="straightConnector1">
            <a:avLst/>
          </a:prstGeom>
          <a:noFill/>
          <a:ln cap="flat" cmpd="sng" w="9525">
            <a:solidFill>
              <a:srgbClr val="8C8C8C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76" name="Google Shape;76;g3eda51beda4_2_14"/>
          <p:cNvCxnSpPr/>
          <p:nvPr/>
        </p:nvCxnSpPr>
        <p:spPr>
          <a:xfrm rot="10800000">
            <a:off x="-10636" y="6335084"/>
            <a:ext cx="12192000" cy="0"/>
          </a:xfrm>
          <a:prstGeom prst="straightConnector1">
            <a:avLst/>
          </a:prstGeom>
          <a:noFill/>
          <a:ln cap="flat" cmpd="sng" w="9525">
            <a:solidFill>
              <a:srgbClr val="8C8C8C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77" name="Google Shape;77;g3eda51beda4_2_14"/>
          <p:cNvSpPr txBox="1"/>
          <p:nvPr>
            <p:ph type="title"/>
          </p:nvPr>
        </p:nvSpPr>
        <p:spPr>
          <a:xfrm>
            <a:off x="838200" y="254302"/>
            <a:ext cx="10515600" cy="95204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venir"/>
              <a:buNone/>
              <a:defRPr>
                <a:latin typeface="Avenir"/>
                <a:ea typeface="Avenir"/>
                <a:cs typeface="Avenir"/>
                <a:sym typeface="Aveni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78" name="Google Shape;78;g3eda51beda4_2_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5192" y="6594664"/>
            <a:ext cx="1492464" cy="1268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_黑">
  <p:cSld name="空白_黑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eda51beda4_2_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cxnSp>
        <p:nvCxnSpPr>
          <p:cNvPr id="81" name="Google Shape;81;g3eda51beda4_2_21"/>
          <p:cNvCxnSpPr/>
          <p:nvPr/>
        </p:nvCxnSpPr>
        <p:spPr>
          <a:xfrm rot="10800000">
            <a:off x="-10636" y="6335084"/>
            <a:ext cx="12192000" cy="0"/>
          </a:xfrm>
          <a:prstGeom prst="straightConnector1">
            <a:avLst/>
          </a:prstGeom>
          <a:noFill/>
          <a:ln cap="flat" cmpd="sng" w="9525">
            <a:solidFill>
              <a:srgbClr val="8C8C8C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id="82" name="Google Shape;82;g3eda51beda4_2_21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 rot="5400000">
            <a:off x="10451769" y="0"/>
            <a:ext cx="1740231" cy="1740231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g3eda51beda4_2_21"/>
          <p:cNvSpPr txBox="1"/>
          <p:nvPr>
            <p:ph type="title"/>
          </p:nvPr>
        </p:nvSpPr>
        <p:spPr>
          <a:xfrm>
            <a:off x="838200" y="254302"/>
            <a:ext cx="10515600" cy="95204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venir"/>
              <a:buNone/>
              <a:defRPr>
                <a:latin typeface="Avenir"/>
                <a:ea typeface="Avenir"/>
                <a:cs typeface="Avenir"/>
                <a:sym typeface="Aveni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84" name="Google Shape;84;g3eda51beda4_2_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5192" y="6594664"/>
            <a:ext cx="1492464" cy="1268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和副標">
  <p:cSld name="標題和副標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g3eda51beda4_2_27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 rot="5400000">
            <a:off x="10451769" y="0"/>
            <a:ext cx="1740231" cy="1740231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g3eda51beda4_2_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cxnSp>
        <p:nvCxnSpPr>
          <p:cNvPr id="88" name="Google Shape;88;g3eda51beda4_2_27"/>
          <p:cNvCxnSpPr/>
          <p:nvPr/>
        </p:nvCxnSpPr>
        <p:spPr>
          <a:xfrm rot="10800000">
            <a:off x="-3" y="1326017"/>
            <a:ext cx="12192000" cy="0"/>
          </a:xfrm>
          <a:prstGeom prst="straightConnector1">
            <a:avLst/>
          </a:prstGeom>
          <a:noFill/>
          <a:ln cap="flat" cmpd="sng" w="9525">
            <a:solidFill>
              <a:srgbClr val="8C8C8C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89" name="Google Shape;89;g3eda51beda4_2_27"/>
          <p:cNvCxnSpPr/>
          <p:nvPr/>
        </p:nvCxnSpPr>
        <p:spPr>
          <a:xfrm rot="10800000">
            <a:off x="-10636" y="6335084"/>
            <a:ext cx="12192000" cy="0"/>
          </a:xfrm>
          <a:prstGeom prst="straightConnector1">
            <a:avLst/>
          </a:prstGeom>
          <a:noFill/>
          <a:ln cap="flat" cmpd="sng" w="9525">
            <a:solidFill>
              <a:srgbClr val="8C8C8C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90" name="Google Shape;90;g3eda51beda4_2_27"/>
          <p:cNvSpPr txBox="1"/>
          <p:nvPr>
            <p:ph type="title"/>
          </p:nvPr>
        </p:nvSpPr>
        <p:spPr>
          <a:xfrm>
            <a:off x="838200" y="254302"/>
            <a:ext cx="10515600" cy="95204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venir"/>
              <a:buNone/>
              <a:defRPr>
                <a:latin typeface="Avenir"/>
                <a:ea typeface="Avenir"/>
                <a:cs typeface="Avenir"/>
                <a:sym typeface="Aveni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g3eda51beda4_2_27"/>
          <p:cNvSpPr txBox="1"/>
          <p:nvPr>
            <p:ph idx="1" type="body"/>
          </p:nvPr>
        </p:nvSpPr>
        <p:spPr>
          <a:xfrm>
            <a:off x="838196" y="1027251"/>
            <a:ext cx="10515599" cy="2987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92" name="Google Shape;92;g3eda51beda4_2_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5192" y="6594664"/>
            <a:ext cx="1492464" cy="1268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頁尾">
  <p:cSld name="頁尾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一張含有 螢幕擷取畫面, 文字, 水, 藍色 的圖片&#10;&#10;自動產生的描述" id="94" name="Google Shape;94;g3eda51beda4_2_35"/>
          <p:cNvPicPr preferRelativeResize="0"/>
          <p:nvPr/>
        </p:nvPicPr>
        <p:blipFill rotWithShape="1">
          <a:blip r:embed="rId2">
            <a:alphaModFix/>
          </a:blip>
          <a:srcRect b="1575" l="569" r="0" t="0"/>
          <a:stretch/>
        </p:blipFill>
        <p:spPr>
          <a:xfrm>
            <a:off x="7639291" y="0"/>
            <a:ext cx="4564284" cy="6761629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g3eda51beda4_2_35"/>
          <p:cNvSpPr txBox="1"/>
          <p:nvPr>
            <p:ph idx="1" type="body"/>
          </p:nvPr>
        </p:nvSpPr>
        <p:spPr>
          <a:xfrm>
            <a:off x="1099595" y="1993087"/>
            <a:ext cx="5216525" cy="890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b="0" i="1" sz="1400">
                <a:latin typeface="Avenir"/>
                <a:ea typeface="Avenir"/>
                <a:cs typeface="Avenir"/>
                <a:sym typeface="Avenir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6" name="Google Shape;96;g3eda51beda4_2_35"/>
          <p:cNvSpPr/>
          <p:nvPr/>
        </p:nvSpPr>
        <p:spPr>
          <a:xfrm>
            <a:off x="0" y="6761629"/>
            <a:ext cx="12192000" cy="108000"/>
          </a:xfrm>
          <a:prstGeom prst="rect">
            <a:avLst/>
          </a:prstGeom>
          <a:gradFill>
            <a:gsLst>
              <a:gs pos="0">
                <a:srgbClr val="2EACBE"/>
              </a:gs>
              <a:gs pos="100000">
                <a:srgbClr val="1C63A7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descr="一張含有 樣式, 藝術, 正方形, 對稱 的圖片&#10;&#10;自動產生的描述" id="97" name="Google Shape;97;g3eda51beda4_2_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6529" y="5161279"/>
            <a:ext cx="1440000" cy="144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一張含有 樣式, 正方形, 藝術, 設計 的圖片&#10;&#10;自動產生的描述" id="98" name="Google Shape;98;g3eda51beda4_2_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75039" y="5161279"/>
            <a:ext cx="1440000" cy="144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一張含有 樣式, 藝術, 正方形, 對稱 的圖片&#10;&#10;自動產生的描述" id="99" name="Google Shape;99;g3eda51beda4_2_3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153188" y="5161279"/>
            <a:ext cx="1440000" cy="144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g3eda51beda4_2_35"/>
          <p:cNvSpPr txBox="1"/>
          <p:nvPr/>
        </p:nvSpPr>
        <p:spPr>
          <a:xfrm>
            <a:off x="1099595" y="752354"/>
            <a:ext cx="3154518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zh-TW" sz="3600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rPr>
              <a:t>Let’s Connect</a:t>
            </a:r>
            <a:endParaRPr b="1" i="1" sz="3600">
              <a:solidFill>
                <a:schemeClr val="accen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01" name="Google Shape;101;g3eda51beda4_2_35"/>
          <p:cNvSpPr txBox="1"/>
          <p:nvPr/>
        </p:nvSpPr>
        <p:spPr>
          <a:xfrm>
            <a:off x="10629527" y="6477662"/>
            <a:ext cx="1311578" cy="2481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100"/>
              <a:buFont typeface="Arial"/>
              <a:buNone/>
            </a:pPr>
            <a:r>
              <a:rPr b="0" i="1" lang="zh-TW" sz="1100" u="none" cap="none" strike="noStrike">
                <a:solidFill>
                  <a:srgbClr val="404040"/>
                </a:solidFill>
                <a:latin typeface="Avenir"/>
                <a:ea typeface="Avenir"/>
                <a:cs typeface="Avenir"/>
                <a:sym typeface="Avenir"/>
              </a:rPr>
              <a:t>Turing Drive 2024</a:t>
            </a:r>
            <a:endParaRPr b="0" i="1" sz="1100" u="none" cap="none" strike="noStrike">
              <a:solidFill>
                <a:srgbClr val="404040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02" name="Google Shape;102;g3eda51beda4_2_35"/>
          <p:cNvSpPr txBox="1"/>
          <p:nvPr/>
        </p:nvSpPr>
        <p:spPr>
          <a:xfrm>
            <a:off x="1035724" y="4762171"/>
            <a:ext cx="961610" cy="3189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600"/>
              <a:buFont typeface="Arial"/>
              <a:buNone/>
            </a:pPr>
            <a:r>
              <a:rPr b="1" i="1" lang="zh-TW" sz="1600" u="none" cap="none" strike="noStrike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rPr>
              <a:t>Website</a:t>
            </a:r>
            <a:endParaRPr b="1" i="1" sz="1600" u="none" cap="none" strike="noStrike">
              <a:solidFill>
                <a:srgbClr val="7F7F7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03" name="Google Shape;103;g3eda51beda4_2_35"/>
          <p:cNvSpPr txBox="1"/>
          <p:nvPr/>
        </p:nvSpPr>
        <p:spPr>
          <a:xfrm>
            <a:off x="3194357" y="4762171"/>
            <a:ext cx="1001364" cy="3189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600"/>
              <a:buFont typeface="Arial"/>
              <a:buNone/>
            </a:pPr>
            <a:r>
              <a:rPr b="1" i="1" lang="zh-TW" sz="1600" u="none" cap="none" strike="noStrike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rPr>
              <a:t>YouTube</a:t>
            </a:r>
            <a:endParaRPr b="1" i="1" sz="1600" u="none" cap="none" strike="noStrike">
              <a:solidFill>
                <a:srgbClr val="7F7F7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04" name="Google Shape;104;g3eda51beda4_2_35"/>
          <p:cNvSpPr txBox="1"/>
          <p:nvPr/>
        </p:nvSpPr>
        <p:spPr>
          <a:xfrm>
            <a:off x="5377700" y="4762171"/>
            <a:ext cx="990977" cy="3189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600"/>
              <a:buFont typeface="Arial"/>
              <a:buNone/>
            </a:pPr>
            <a:r>
              <a:rPr b="1" i="1" lang="zh-TW" sz="1600" u="none" cap="none" strike="noStrike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rPr>
              <a:t>LinkedIn</a:t>
            </a:r>
            <a:endParaRPr b="1" i="1" sz="1600" u="none" cap="none" strike="noStrike">
              <a:solidFill>
                <a:srgbClr val="7F7F7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和內容">
  <p:cSld name="標題和內容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g3eda51beda4_2_47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 rot="5400000">
            <a:off x="10451769" y="0"/>
            <a:ext cx="1740231" cy="1740231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g3eda51beda4_2_4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08" name="Google Shape;108;g3eda51beda4_2_4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109" name="Google Shape;109;g3eda51beda4_2_47"/>
          <p:cNvCxnSpPr/>
          <p:nvPr/>
        </p:nvCxnSpPr>
        <p:spPr>
          <a:xfrm rot="10800000">
            <a:off x="-3" y="1326017"/>
            <a:ext cx="12192000" cy="0"/>
          </a:xfrm>
          <a:prstGeom prst="straightConnector1">
            <a:avLst/>
          </a:prstGeom>
          <a:noFill/>
          <a:ln cap="flat" cmpd="sng" w="9525">
            <a:solidFill>
              <a:srgbClr val="8C8C8C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110" name="Google Shape;110;g3eda51beda4_2_47"/>
          <p:cNvCxnSpPr/>
          <p:nvPr/>
        </p:nvCxnSpPr>
        <p:spPr>
          <a:xfrm rot="10800000">
            <a:off x="-10636" y="6335084"/>
            <a:ext cx="12192000" cy="0"/>
          </a:xfrm>
          <a:prstGeom prst="straightConnector1">
            <a:avLst/>
          </a:prstGeom>
          <a:noFill/>
          <a:ln cap="flat" cmpd="sng" w="9525">
            <a:solidFill>
              <a:srgbClr val="8C8C8C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11" name="Google Shape;111;g3eda51beda4_2_47"/>
          <p:cNvSpPr txBox="1"/>
          <p:nvPr>
            <p:ph type="title"/>
          </p:nvPr>
        </p:nvSpPr>
        <p:spPr>
          <a:xfrm>
            <a:off x="838200" y="254302"/>
            <a:ext cx="10515600" cy="95204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venir"/>
              <a:buNone/>
              <a:defRPr>
                <a:latin typeface="Avenir"/>
                <a:ea typeface="Avenir"/>
                <a:cs typeface="Avenir"/>
                <a:sym typeface="Aveni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g3eda51beda4_2_47"/>
          <p:cNvSpPr txBox="1"/>
          <p:nvPr>
            <p:ph idx="2" type="body"/>
          </p:nvPr>
        </p:nvSpPr>
        <p:spPr>
          <a:xfrm>
            <a:off x="838196" y="1027251"/>
            <a:ext cx="10515599" cy="2987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13" name="Google Shape;113;g3eda51beda4_2_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5192" y="6594664"/>
            <a:ext cx="1492464" cy="1268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主題版">
  <p:cSld name="主題版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eda51beda4_2_56"/>
          <p:cNvSpPr/>
          <p:nvPr>
            <p:ph idx="2" type="pic"/>
          </p:nvPr>
        </p:nvSpPr>
        <p:spPr>
          <a:xfrm>
            <a:off x="7391400" y="0"/>
            <a:ext cx="4800600" cy="6901538"/>
          </a:xfrm>
          <a:prstGeom prst="rect">
            <a:avLst/>
          </a:prstGeom>
          <a:noFill/>
          <a:ln>
            <a:noFill/>
          </a:ln>
        </p:spPr>
      </p:sp>
      <p:sp>
        <p:nvSpPr>
          <p:cNvPr id="116" name="Google Shape;116;g3eda51beda4_2_56"/>
          <p:cNvSpPr txBox="1"/>
          <p:nvPr>
            <p:ph type="title"/>
          </p:nvPr>
        </p:nvSpPr>
        <p:spPr>
          <a:xfrm>
            <a:off x="1009630" y="2359404"/>
            <a:ext cx="6096000" cy="801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venir"/>
              <a:buNone/>
              <a:defRPr>
                <a:latin typeface="Avenir"/>
                <a:ea typeface="Avenir"/>
                <a:cs typeface="Avenir"/>
                <a:sym typeface="Aveni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g3eda51beda4_2_56"/>
          <p:cNvSpPr txBox="1"/>
          <p:nvPr>
            <p:ph idx="1" type="body"/>
          </p:nvPr>
        </p:nvSpPr>
        <p:spPr>
          <a:xfrm>
            <a:off x="1009630" y="3160428"/>
            <a:ext cx="4521200" cy="5371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18" name="Google Shape;118;g3eda51beda4_2_5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85192" y="6594664"/>
            <a:ext cx="1492464" cy="1268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8.xml"/><Relationship Id="rId3" Type="http://schemas.openxmlformats.org/officeDocument/2006/relationships/slideLayout" Target="../slideLayouts/slideLayout9.xml"/><Relationship Id="rId4" Type="http://schemas.openxmlformats.org/officeDocument/2006/relationships/slideLayout" Target="../slideLayouts/slideLayout10.xml"/><Relationship Id="rId5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3.xml"/><Relationship Id="rId8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/>
          <p:nvPr/>
        </p:nvSpPr>
        <p:spPr>
          <a:xfrm>
            <a:off x="0" y="6823909"/>
            <a:ext cx="12192000" cy="45719"/>
          </a:xfrm>
          <a:prstGeom prst="rect">
            <a:avLst/>
          </a:prstGeom>
          <a:gradFill>
            <a:gsLst>
              <a:gs pos="0">
                <a:srgbClr val="2EACBE"/>
              </a:gs>
              <a:gs pos="100000">
                <a:srgbClr val="1C63A7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accen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1" name="Google Shape;11;p13"/>
          <p:cNvSpPr txBox="1"/>
          <p:nvPr>
            <p:ph type="title"/>
          </p:nvPr>
        </p:nvSpPr>
        <p:spPr>
          <a:xfrm>
            <a:off x="838200" y="254302"/>
            <a:ext cx="10515600" cy="95204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venir"/>
              <a:buNone/>
              <a:defRPr b="1" i="0" sz="3200" u="none" cap="none" strike="noStrike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3" name="Google Shape;13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  <p:sp>
        <p:nvSpPr>
          <p:cNvPr id="14" name="Google Shape;14;p1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3840">
          <p15:clr>
            <a:srgbClr val="F26B43"/>
          </p15:clr>
        </p15:guide>
        <p15:guide id="2" pos="7469">
          <p15:clr>
            <a:srgbClr val="F26B43"/>
          </p15:clr>
        </p15:guide>
        <p15:guide id="3" pos="211">
          <p15:clr>
            <a:srgbClr val="F26B43"/>
          </p15:clr>
        </p15:guide>
        <p15:guide id="4" orient="horz" pos="1049">
          <p15:clr>
            <a:srgbClr val="F26B43"/>
          </p15:clr>
        </p15:guide>
        <p15:guide id="5" orient="horz" pos="3884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eda51beda4_2_0"/>
          <p:cNvSpPr/>
          <p:nvPr/>
        </p:nvSpPr>
        <p:spPr>
          <a:xfrm>
            <a:off x="0" y="6823909"/>
            <a:ext cx="12192000" cy="45719"/>
          </a:xfrm>
          <a:prstGeom prst="rect">
            <a:avLst/>
          </a:prstGeom>
          <a:gradFill>
            <a:gsLst>
              <a:gs pos="0">
                <a:srgbClr val="2EACBE"/>
              </a:gs>
              <a:gs pos="100000">
                <a:srgbClr val="1C63A7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accen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60" name="Google Shape;60;g3eda51beda4_2_0"/>
          <p:cNvSpPr txBox="1"/>
          <p:nvPr>
            <p:ph type="title"/>
          </p:nvPr>
        </p:nvSpPr>
        <p:spPr>
          <a:xfrm>
            <a:off x="838200" y="254302"/>
            <a:ext cx="10515600" cy="95204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venir"/>
              <a:buNone/>
              <a:defRPr b="1" i="0" sz="3200" u="none" cap="none" strike="noStrike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61" name="Google Shape;61;g3eda51beda4_2_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62" name="Google Shape;62;g3eda51beda4_2_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  <p:sp>
        <p:nvSpPr>
          <p:cNvPr id="63" name="Google Shape;63;g3eda51beda4_2_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6" r:id="rId1"/>
    <p:sldLayoutId id="2147483657" r:id="rId2"/>
    <p:sldLayoutId id="2147483658" r:id="rId3"/>
    <p:sldLayoutId id="2147483659" r:id="rId4"/>
    <p:sldLayoutId id="2147483660" r:id="rId5"/>
    <p:sldLayoutId id="2147483661" r:id="rId6"/>
    <p:sldLayoutId id="2147483662" r:id="rId7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3840">
          <p15:clr>
            <a:srgbClr val="F26B43"/>
          </p15:clr>
        </p15:guide>
        <p15:guide id="2" pos="7469">
          <p15:clr>
            <a:srgbClr val="F26B43"/>
          </p15:clr>
        </p15:guide>
        <p15:guide id="3" pos="211">
          <p15:clr>
            <a:srgbClr val="F26B43"/>
          </p15:clr>
        </p15:guide>
        <p15:guide id="4" orient="horz" pos="1049">
          <p15:clr>
            <a:srgbClr val="F26B43"/>
          </p15:clr>
        </p15:guide>
        <p15:guide id="5" orient="horz" pos="38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slide" Target="/ppt/slides/slide2.xml"/><Relationship Id="rId4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drive.google.com/file/d/15nBRs9drjUynqe3L-HlCAj8g9673Qex8/view" TargetMode="External"/><Relationship Id="rId4" Type="http://schemas.openxmlformats.org/officeDocument/2006/relationships/slide" Target="/ppt/slides/slide2.xml"/><Relationship Id="rId5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slide" Target="/ppt/slides/slide2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drive.google.com/drive/folders/1pD5zjN87CkmgGQd2jdinNmsxOfcPkIcI" TargetMode="External"/><Relationship Id="rId4" Type="http://schemas.openxmlformats.org/officeDocument/2006/relationships/slide" Target="/ppt/slides/slide2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turingdrive01.sharepoint.com/SitePages/%E8%B2%A1%E6%9C%83%E5%B0%88%E5%8D%80.aspx" TargetMode="External"/><Relationship Id="rId4" Type="http://schemas.openxmlformats.org/officeDocument/2006/relationships/hyperlink" Target="https://turingdrive01.sharepoint.com/SitePages/%E4%BA%BA%E8%B3%87%E5%B0%88%E5%8D%80.aspx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slide" Target="/ppt/slides/slide2.xml"/><Relationship Id="rId4" Type="http://schemas.openxmlformats.org/officeDocument/2006/relationships/image" Target="../media/image1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slide" Target="/ppt/slides/slide2.xml"/><Relationship Id="rId4" Type="http://schemas.openxmlformats.org/officeDocument/2006/relationships/image" Target="../media/image15.png"/><Relationship Id="rId5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slide" Target="/ppt/slides/slide2.xml"/><Relationship Id="rId4" Type="http://schemas.openxmlformats.org/officeDocument/2006/relationships/image" Target="../media/image1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slide" Target="/ppt/slides/slide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"/>
          <p:cNvSpPr txBox="1"/>
          <p:nvPr>
            <p:ph idx="1" type="body"/>
          </p:nvPr>
        </p:nvSpPr>
        <p:spPr>
          <a:xfrm>
            <a:off x="528737" y="1497008"/>
            <a:ext cx="5316164" cy="16494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None/>
            </a:pPr>
            <a:r>
              <a:rPr lang="zh-TW"/>
              <a:t>報支</a:t>
            </a:r>
            <a:r>
              <a:rPr lang="zh-TW" sz="4000"/>
              <a:t>申請說明</a:t>
            </a:r>
            <a:endParaRPr/>
          </a:p>
        </p:txBody>
      </p:sp>
      <p:sp>
        <p:nvSpPr>
          <p:cNvPr id="125" name="Google Shape;125;p1"/>
          <p:cNvSpPr txBox="1"/>
          <p:nvPr>
            <p:ph idx="2" type="body"/>
          </p:nvPr>
        </p:nvSpPr>
        <p:spPr>
          <a:xfrm>
            <a:off x="528735" y="3303356"/>
            <a:ext cx="5316160" cy="1016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</a:pPr>
            <a:r>
              <a:rPr lang="zh-TW">
                <a:latin typeface="Avenir"/>
                <a:ea typeface="Avenir"/>
                <a:cs typeface="Avenir"/>
                <a:sym typeface="Avenir"/>
              </a:rPr>
              <a:t>Redefine mobility,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</a:pPr>
            <a:r>
              <a:rPr lang="zh-TW">
                <a:latin typeface="Avenir"/>
                <a:ea typeface="Avenir"/>
                <a:cs typeface="Avenir"/>
                <a:sym typeface="Avenir"/>
              </a:rPr>
              <a:t>explore </a:t>
            </a:r>
            <a:r>
              <a:rPr lang="zh-TW"/>
              <a:t>unlimited</a:t>
            </a:r>
            <a:r>
              <a:rPr lang="zh-TW">
                <a:latin typeface="Avenir"/>
                <a:ea typeface="Avenir"/>
                <a:cs typeface="Avenir"/>
                <a:sym typeface="Avenir"/>
              </a:rPr>
              <a:t> potential</a:t>
            </a:r>
            <a:endParaRPr/>
          </a:p>
        </p:txBody>
      </p:sp>
      <p:sp>
        <p:nvSpPr>
          <p:cNvPr id="126" name="Google Shape;126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zh-TW">
                <a:latin typeface="Avenir"/>
                <a:ea typeface="Avenir"/>
                <a:cs typeface="Avenir"/>
                <a:sym typeface="Avenir"/>
              </a:rPr>
              <a:t>2026/3/16</a:t>
            </a:r>
            <a:endParaRPr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33" name="Google Shape;133;p2"/>
          <p:cNvSpPr txBox="1"/>
          <p:nvPr>
            <p:ph idx="1" type="body"/>
          </p:nvPr>
        </p:nvSpPr>
        <p:spPr>
          <a:xfrm>
            <a:off x="838200" y="1592826"/>
            <a:ext cx="10515600" cy="45841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Char char="•"/>
            </a:pPr>
            <a:r>
              <a:rPr b="1" lang="zh-TW"/>
              <a:t>費用報支流程圖(簡易版)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Char char="•"/>
            </a:pPr>
            <a:r>
              <a:rPr b="1" lang="zh-TW"/>
              <a:t>費用報支申請須知&amp;注意事項</a:t>
            </a:r>
            <a:endParaRPr b="1"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Char char="•"/>
            </a:pPr>
            <a:r>
              <a:rPr b="1" lang="zh-TW"/>
              <a:t>出差報支申請須知&amp;注意事項</a:t>
            </a:r>
            <a:endParaRPr b="1"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Char char="•"/>
            </a:pPr>
            <a:r>
              <a:rPr b="1" lang="zh-TW"/>
              <a:t>報支申請單_紙本簽核版</a:t>
            </a:r>
            <a:endParaRPr b="1"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Char char="•"/>
            </a:pPr>
            <a:r>
              <a:rPr b="1" lang="zh-TW"/>
              <a:t>報支申請單_線上版</a:t>
            </a:r>
            <a:endParaRPr b="1"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Char char="•"/>
            </a:pPr>
            <a:r>
              <a:rPr b="1" lang="zh-TW"/>
              <a:t>其他注意事項</a:t>
            </a:r>
            <a:endParaRPr b="1"/>
          </a:p>
        </p:txBody>
      </p:sp>
      <p:sp>
        <p:nvSpPr>
          <p:cNvPr id="134" name="Google Shape;134;p2"/>
          <p:cNvSpPr txBox="1"/>
          <p:nvPr>
            <p:ph type="title"/>
          </p:nvPr>
        </p:nvSpPr>
        <p:spPr>
          <a:xfrm>
            <a:off x="838200" y="254302"/>
            <a:ext cx="10515600" cy="95204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Avenir"/>
              <a:buNone/>
            </a:pPr>
            <a:r>
              <a:rPr lang="zh-TW">
                <a:solidFill>
                  <a:schemeClr val="dk1"/>
                </a:solidFill>
              </a:rPr>
              <a:t>目錄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35" name="Google Shape;135;p2"/>
          <p:cNvSpPr txBox="1"/>
          <p:nvPr>
            <p:ph idx="2" type="body"/>
          </p:nvPr>
        </p:nvSpPr>
        <p:spPr>
          <a:xfrm>
            <a:off x="838196" y="1027251"/>
            <a:ext cx="10515599" cy="2987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42" name="Google Shape;142;p3"/>
          <p:cNvSpPr txBox="1"/>
          <p:nvPr>
            <p:ph type="title"/>
          </p:nvPr>
        </p:nvSpPr>
        <p:spPr>
          <a:xfrm>
            <a:off x="838200" y="254302"/>
            <a:ext cx="10515600" cy="95204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Avenir"/>
              <a:buNone/>
            </a:pPr>
            <a:r>
              <a:rPr lang="zh-TW">
                <a:solidFill>
                  <a:schemeClr val="dk1"/>
                </a:solidFill>
              </a:rPr>
              <a:t>費用報支流程圖(簡易版)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43" name="Google Shape;143;p3"/>
          <p:cNvSpPr txBox="1"/>
          <p:nvPr>
            <p:ph idx="2" type="body"/>
          </p:nvPr>
        </p:nvSpPr>
        <p:spPr>
          <a:xfrm>
            <a:off x="838196" y="1027251"/>
            <a:ext cx="10515599" cy="2987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</a:pPr>
            <a:r>
              <a:t/>
            </a:r>
            <a:endParaRPr/>
          </a:p>
        </p:txBody>
      </p:sp>
      <p:sp>
        <p:nvSpPr>
          <p:cNvPr id="144" name="Google Shape;144;p3">
            <a:hlinkClick action="ppaction://hlinksldjump" r:id="rId3"/>
          </p:cNvPr>
          <p:cNvSpPr/>
          <p:nvPr/>
        </p:nvSpPr>
        <p:spPr>
          <a:xfrm>
            <a:off x="11578741" y="6356350"/>
            <a:ext cx="556593" cy="434064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  <a:moveTo>
                  <a:pt x="60000" y="15000"/>
                </a:moveTo>
                <a:lnTo>
                  <a:pt x="24906" y="60000"/>
                </a:lnTo>
                <a:lnTo>
                  <a:pt x="33680" y="60000"/>
                </a:lnTo>
                <a:lnTo>
                  <a:pt x="33680" y="105000"/>
                </a:lnTo>
                <a:lnTo>
                  <a:pt x="86320" y="105000"/>
                </a:lnTo>
                <a:lnTo>
                  <a:pt x="86320" y="60000"/>
                </a:lnTo>
                <a:lnTo>
                  <a:pt x="95094" y="60000"/>
                </a:lnTo>
                <a:lnTo>
                  <a:pt x="81934" y="43125"/>
                </a:lnTo>
                <a:lnTo>
                  <a:pt x="81934" y="20625"/>
                </a:lnTo>
                <a:lnTo>
                  <a:pt x="73160" y="20625"/>
                </a:lnTo>
                <a:lnTo>
                  <a:pt x="73160" y="31875"/>
                </a:lnTo>
                <a:close/>
              </a:path>
              <a:path extrusionOk="0" fill="darkenLess" h="120000" w="120000">
                <a:moveTo>
                  <a:pt x="81934" y="43125"/>
                </a:moveTo>
                <a:lnTo>
                  <a:pt x="81934" y="20625"/>
                </a:lnTo>
                <a:lnTo>
                  <a:pt x="73160" y="20625"/>
                </a:lnTo>
                <a:lnTo>
                  <a:pt x="73160" y="31875"/>
                </a:lnTo>
                <a:close/>
                <a:moveTo>
                  <a:pt x="33680" y="60000"/>
                </a:moveTo>
                <a:lnTo>
                  <a:pt x="33680" y="105000"/>
                </a:lnTo>
                <a:lnTo>
                  <a:pt x="55613" y="105000"/>
                </a:lnTo>
                <a:lnTo>
                  <a:pt x="55613" y="82500"/>
                </a:lnTo>
                <a:lnTo>
                  <a:pt x="64387" y="82500"/>
                </a:lnTo>
                <a:lnTo>
                  <a:pt x="64387" y="105000"/>
                </a:lnTo>
                <a:lnTo>
                  <a:pt x="86320" y="105000"/>
                </a:lnTo>
                <a:lnTo>
                  <a:pt x="86320" y="60000"/>
                </a:lnTo>
                <a:close/>
              </a:path>
              <a:path extrusionOk="0" fill="darken" h="120000" w="120000">
                <a:moveTo>
                  <a:pt x="60000" y="15000"/>
                </a:moveTo>
                <a:lnTo>
                  <a:pt x="24906" y="60000"/>
                </a:lnTo>
                <a:lnTo>
                  <a:pt x="95094" y="60000"/>
                </a:lnTo>
                <a:close/>
                <a:moveTo>
                  <a:pt x="55613" y="82500"/>
                </a:moveTo>
                <a:lnTo>
                  <a:pt x="64387" y="82500"/>
                </a:lnTo>
                <a:lnTo>
                  <a:pt x="64387" y="105000"/>
                </a:lnTo>
                <a:lnTo>
                  <a:pt x="55613" y="105000"/>
                </a:lnTo>
                <a:close/>
              </a:path>
              <a:path extrusionOk="0" fill="none" h="120000" w="120000">
                <a:moveTo>
                  <a:pt x="60000" y="15000"/>
                </a:moveTo>
                <a:lnTo>
                  <a:pt x="73160" y="31875"/>
                </a:lnTo>
                <a:lnTo>
                  <a:pt x="73160" y="20625"/>
                </a:lnTo>
                <a:lnTo>
                  <a:pt x="81934" y="20625"/>
                </a:lnTo>
                <a:lnTo>
                  <a:pt x="81934" y="43125"/>
                </a:lnTo>
                <a:lnTo>
                  <a:pt x="95094" y="60000"/>
                </a:lnTo>
                <a:lnTo>
                  <a:pt x="86320" y="60000"/>
                </a:lnTo>
                <a:lnTo>
                  <a:pt x="86320" y="105000"/>
                </a:lnTo>
                <a:lnTo>
                  <a:pt x="33680" y="105000"/>
                </a:lnTo>
                <a:lnTo>
                  <a:pt x="33680" y="60000"/>
                </a:lnTo>
                <a:lnTo>
                  <a:pt x="24906" y="60000"/>
                </a:lnTo>
                <a:close/>
                <a:moveTo>
                  <a:pt x="73160" y="31875"/>
                </a:moveTo>
                <a:lnTo>
                  <a:pt x="81934" y="43125"/>
                </a:lnTo>
                <a:moveTo>
                  <a:pt x="86320" y="60000"/>
                </a:moveTo>
                <a:lnTo>
                  <a:pt x="33680" y="60000"/>
                </a:lnTo>
                <a:moveTo>
                  <a:pt x="55613" y="105000"/>
                </a:moveTo>
                <a:lnTo>
                  <a:pt x="55613" y="82500"/>
                </a:lnTo>
                <a:lnTo>
                  <a:pt x="64387" y="82500"/>
                </a:lnTo>
                <a:lnTo>
                  <a:pt x="64387" y="105000"/>
                </a:lnTo>
              </a:path>
              <a:path extrusionOk="0" fill="none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gradFill>
            <a:gsLst>
              <a:gs pos="0">
                <a:srgbClr val="93D7DE"/>
              </a:gs>
              <a:gs pos="50000">
                <a:srgbClr val="7FD5DE"/>
              </a:gs>
              <a:gs pos="100000">
                <a:srgbClr val="6CC0C8"/>
              </a:gs>
            </a:gsLst>
            <a:lin ang="5400000" scaled="0"/>
          </a:gradFill>
          <a:ln>
            <a:noFill/>
          </a:ln>
          <a:effectLst>
            <a:outerShdw blurRad="57150" rotWithShape="0" algn="ctr" dir="5400000" dist="19050">
              <a:srgbClr val="000000">
                <a:alpha val="6313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45" name="Google Shape;145;p3"/>
          <p:cNvSpPr txBox="1"/>
          <p:nvPr/>
        </p:nvSpPr>
        <p:spPr>
          <a:xfrm>
            <a:off x="742323" y="5956240"/>
            <a:ext cx="8074646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zh-TW" sz="20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Note</a:t>
            </a:r>
            <a:r>
              <a:rPr b="1" i="0" lang="zh-TW" sz="16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：Email向會計申請請購單號時，需要告知預算來源、申請內容、金額等資訊。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6" name="Google Shape;146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8196" y="1526509"/>
            <a:ext cx="10726994" cy="4390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53" name="Google Shape;153;p4"/>
          <p:cNvSpPr txBox="1"/>
          <p:nvPr>
            <p:ph idx="1" type="body"/>
          </p:nvPr>
        </p:nvSpPr>
        <p:spPr>
          <a:xfrm>
            <a:off x="959869" y="1443683"/>
            <a:ext cx="10022763" cy="13691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Char char="•"/>
            </a:pPr>
            <a:r>
              <a:rPr lang="zh-TW" sz="2200"/>
              <a:t>適用採購管理辦法項目如下：</a:t>
            </a:r>
            <a:endParaRPr sz="2200"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B050"/>
              </a:buClr>
              <a:buSzPts val="2200"/>
              <a:buChar char="•"/>
            </a:pPr>
            <a:r>
              <a:rPr b="1" lang="zh-TW" sz="2200">
                <a:solidFill>
                  <a:srgbClr val="00B050"/>
                </a:solidFill>
              </a:rPr>
              <a:t>相關規定請參閱 : </a:t>
            </a:r>
            <a:r>
              <a:rPr b="1" lang="zh-TW" sz="2200" u="sng">
                <a:solidFill>
                  <a:srgbClr val="00B050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20260605_採購管理辦法</a:t>
            </a:r>
            <a:r>
              <a:rPr b="1" lang="zh-TW" sz="2200">
                <a:solidFill>
                  <a:srgbClr val="00B050"/>
                </a:solidFill>
              </a:rPr>
              <a:t>。</a:t>
            </a:r>
            <a:endParaRPr b="1" sz="2200">
              <a:solidFill>
                <a:srgbClr val="00B050"/>
              </a:solidFill>
            </a:endParaRPr>
          </a:p>
        </p:txBody>
      </p:sp>
      <p:sp>
        <p:nvSpPr>
          <p:cNvPr id="154" name="Google Shape;154;p4"/>
          <p:cNvSpPr txBox="1"/>
          <p:nvPr>
            <p:ph type="title"/>
          </p:nvPr>
        </p:nvSpPr>
        <p:spPr>
          <a:xfrm>
            <a:off x="838200" y="254302"/>
            <a:ext cx="10515600" cy="95204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Avenir"/>
              <a:buNone/>
            </a:pPr>
            <a:r>
              <a:rPr lang="zh-TW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費用報支申請須知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5" name="Google Shape;155;p4"/>
          <p:cNvSpPr txBox="1"/>
          <p:nvPr>
            <p:ph idx="2" type="body"/>
          </p:nvPr>
        </p:nvSpPr>
        <p:spPr>
          <a:xfrm>
            <a:off x="838196" y="1027251"/>
            <a:ext cx="10515599" cy="2987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</a:pPr>
            <a:r>
              <a:t/>
            </a:r>
            <a:endParaRPr/>
          </a:p>
        </p:txBody>
      </p:sp>
      <p:sp>
        <p:nvSpPr>
          <p:cNvPr id="156" name="Google Shape;156;p4">
            <a:hlinkClick action="ppaction://hlinksldjump" r:id="rId4"/>
          </p:cNvPr>
          <p:cNvSpPr/>
          <p:nvPr/>
        </p:nvSpPr>
        <p:spPr>
          <a:xfrm>
            <a:off x="11578741" y="6356350"/>
            <a:ext cx="556593" cy="434064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  <a:moveTo>
                  <a:pt x="60000" y="15000"/>
                </a:moveTo>
                <a:lnTo>
                  <a:pt x="24906" y="60000"/>
                </a:lnTo>
                <a:lnTo>
                  <a:pt x="33680" y="60000"/>
                </a:lnTo>
                <a:lnTo>
                  <a:pt x="33680" y="105000"/>
                </a:lnTo>
                <a:lnTo>
                  <a:pt x="86320" y="105000"/>
                </a:lnTo>
                <a:lnTo>
                  <a:pt x="86320" y="60000"/>
                </a:lnTo>
                <a:lnTo>
                  <a:pt x="95094" y="60000"/>
                </a:lnTo>
                <a:lnTo>
                  <a:pt x="81934" y="43125"/>
                </a:lnTo>
                <a:lnTo>
                  <a:pt x="81934" y="20625"/>
                </a:lnTo>
                <a:lnTo>
                  <a:pt x="73160" y="20625"/>
                </a:lnTo>
                <a:lnTo>
                  <a:pt x="73160" y="31875"/>
                </a:lnTo>
                <a:close/>
              </a:path>
              <a:path extrusionOk="0" fill="darkenLess" h="120000" w="120000">
                <a:moveTo>
                  <a:pt x="81934" y="43125"/>
                </a:moveTo>
                <a:lnTo>
                  <a:pt x="81934" y="20625"/>
                </a:lnTo>
                <a:lnTo>
                  <a:pt x="73160" y="20625"/>
                </a:lnTo>
                <a:lnTo>
                  <a:pt x="73160" y="31875"/>
                </a:lnTo>
                <a:close/>
                <a:moveTo>
                  <a:pt x="33680" y="60000"/>
                </a:moveTo>
                <a:lnTo>
                  <a:pt x="33680" y="105000"/>
                </a:lnTo>
                <a:lnTo>
                  <a:pt x="55613" y="105000"/>
                </a:lnTo>
                <a:lnTo>
                  <a:pt x="55613" y="82500"/>
                </a:lnTo>
                <a:lnTo>
                  <a:pt x="64387" y="82500"/>
                </a:lnTo>
                <a:lnTo>
                  <a:pt x="64387" y="105000"/>
                </a:lnTo>
                <a:lnTo>
                  <a:pt x="86320" y="105000"/>
                </a:lnTo>
                <a:lnTo>
                  <a:pt x="86320" y="60000"/>
                </a:lnTo>
                <a:close/>
              </a:path>
              <a:path extrusionOk="0" fill="darken" h="120000" w="120000">
                <a:moveTo>
                  <a:pt x="60000" y="15000"/>
                </a:moveTo>
                <a:lnTo>
                  <a:pt x="24906" y="60000"/>
                </a:lnTo>
                <a:lnTo>
                  <a:pt x="95094" y="60000"/>
                </a:lnTo>
                <a:close/>
                <a:moveTo>
                  <a:pt x="55613" y="82500"/>
                </a:moveTo>
                <a:lnTo>
                  <a:pt x="64387" y="82500"/>
                </a:lnTo>
                <a:lnTo>
                  <a:pt x="64387" y="105000"/>
                </a:lnTo>
                <a:lnTo>
                  <a:pt x="55613" y="105000"/>
                </a:lnTo>
                <a:close/>
              </a:path>
              <a:path extrusionOk="0" fill="none" h="120000" w="120000">
                <a:moveTo>
                  <a:pt x="60000" y="15000"/>
                </a:moveTo>
                <a:lnTo>
                  <a:pt x="73160" y="31875"/>
                </a:lnTo>
                <a:lnTo>
                  <a:pt x="73160" y="20625"/>
                </a:lnTo>
                <a:lnTo>
                  <a:pt x="81934" y="20625"/>
                </a:lnTo>
                <a:lnTo>
                  <a:pt x="81934" y="43125"/>
                </a:lnTo>
                <a:lnTo>
                  <a:pt x="95094" y="60000"/>
                </a:lnTo>
                <a:lnTo>
                  <a:pt x="86320" y="60000"/>
                </a:lnTo>
                <a:lnTo>
                  <a:pt x="86320" y="105000"/>
                </a:lnTo>
                <a:lnTo>
                  <a:pt x="33680" y="105000"/>
                </a:lnTo>
                <a:lnTo>
                  <a:pt x="33680" y="60000"/>
                </a:lnTo>
                <a:lnTo>
                  <a:pt x="24906" y="60000"/>
                </a:lnTo>
                <a:close/>
                <a:moveTo>
                  <a:pt x="73160" y="31875"/>
                </a:moveTo>
                <a:lnTo>
                  <a:pt x="81934" y="43125"/>
                </a:lnTo>
                <a:moveTo>
                  <a:pt x="86320" y="60000"/>
                </a:moveTo>
                <a:lnTo>
                  <a:pt x="33680" y="60000"/>
                </a:lnTo>
                <a:moveTo>
                  <a:pt x="55613" y="105000"/>
                </a:moveTo>
                <a:lnTo>
                  <a:pt x="55613" y="82500"/>
                </a:lnTo>
                <a:lnTo>
                  <a:pt x="64387" y="82500"/>
                </a:lnTo>
                <a:lnTo>
                  <a:pt x="64387" y="105000"/>
                </a:lnTo>
              </a:path>
              <a:path extrusionOk="0" fill="none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gradFill>
            <a:gsLst>
              <a:gs pos="0">
                <a:srgbClr val="93D7DE"/>
              </a:gs>
              <a:gs pos="50000">
                <a:srgbClr val="7FD5DE"/>
              </a:gs>
              <a:gs pos="100000">
                <a:srgbClr val="6CC0C8"/>
              </a:gs>
            </a:gsLst>
            <a:lin ang="5400000" scaled="0"/>
          </a:gradFill>
          <a:ln>
            <a:noFill/>
          </a:ln>
          <a:effectLst>
            <a:outerShdw blurRad="57150" rotWithShape="0" algn="ctr" dir="5400000" dist="19050">
              <a:srgbClr val="000000">
                <a:alpha val="6313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descr="一張含有 文字, 螢幕擷取畫面, 數字, 字型 的圖片&#10;&#10;AI 產生的內容可能不正確。" id="157" name="Google Shape;157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93881" y="2812876"/>
            <a:ext cx="7516719" cy="33156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64" name="Google Shape;164;p5"/>
          <p:cNvSpPr txBox="1"/>
          <p:nvPr>
            <p:ph idx="1" type="body"/>
          </p:nvPr>
        </p:nvSpPr>
        <p:spPr>
          <a:xfrm>
            <a:off x="838196" y="1443681"/>
            <a:ext cx="10970346" cy="49126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55000" lnSpcReduction="20000"/>
          </a:bodyPr>
          <a:lstStyle/>
          <a:p>
            <a:pPr indent="-228600" lvl="0" marL="228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zh-TW" sz="2400">
                <a:solidFill>
                  <a:schemeClr val="dk1"/>
                </a:solidFill>
              </a:rPr>
              <a:t>請購申請單中的請購單號需向會計取號。</a:t>
            </a:r>
            <a:endParaRPr sz="2400">
              <a:solidFill>
                <a:schemeClr val="dk1"/>
              </a:solidFill>
            </a:endParaRPr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zh-TW" sz="2400">
                <a:solidFill>
                  <a:schemeClr val="dk1"/>
                </a:solidFill>
              </a:rPr>
              <a:t>如為國內廠商以外幣進行報價及收付款，請確定交易金額是否需含本國營業稅5%及該交易憑證開立方式。</a:t>
            </a:r>
            <a:endParaRPr sz="2400">
              <a:solidFill>
                <a:schemeClr val="dk1"/>
              </a:solidFill>
            </a:endParaRPr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zh-TW" sz="2400">
                <a:solidFill>
                  <a:schemeClr val="dk1"/>
                </a:solidFill>
                <a:highlight>
                  <a:srgbClr val="00FF00"/>
                </a:highlight>
              </a:rPr>
              <a:t>如採購金額超過3萬以上，或經常性每年採購6次以上之供應商，需請對方填寫「供應商基本資料卡」，並請申請人確認</a:t>
            </a:r>
            <a:r>
              <a:rPr lang="zh-TW" sz="2400">
                <a:solidFill>
                  <a:schemeClr val="dk1"/>
                </a:solidFill>
              </a:rPr>
              <a:t>。</a:t>
            </a:r>
            <a:endParaRPr sz="2400">
              <a:solidFill>
                <a:schemeClr val="dk1"/>
              </a:solidFill>
            </a:endParaRPr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zh-TW" sz="2400">
                <a:solidFill>
                  <a:schemeClr val="dk1"/>
                </a:solidFill>
                <a:highlight>
                  <a:srgbClr val="FFFF00"/>
                </a:highlight>
              </a:rPr>
              <a:t>廠商報價單上的付款條件，需能對應到該費用申請單的期望付款日</a:t>
            </a:r>
            <a:r>
              <a:rPr lang="zh-TW" sz="2400">
                <a:solidFill>
                  <a:schemeClr val="dk1"/>
                </a:solidFill>
              </a:rPr>
              <a:t>。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zh-TW" sz="2400">
                <a:solidFill>
                  <a:schemeClr val="dk1"/>
                </a:solidFill>
              </a:rPr>
              <a:t> （舉例說明：假設廠商報價單寫月結30日，但是申請人已寫費用申請單申請預付，是不符合本次採購付款條件，將會退回費用申請單。）</a:t>
            </a:r>
            <a:endParaRPr sz="2400">
              <a:solidFill>
                <a:schemeClr val="dk1"/>
              </a:solidFill>
            </a:endParaRPr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zh-TW" sz="2400">
                <a:solidFill>
                  <a:schemeClr val="dk1"/>
                </a:solidFill>
                <a:highlight>
                  <a:srgbClr val="00FF00"/>
                </a:highlight>
              </a:rPr>
              <a:t>採購金額&lt;NT30,000→報價單x1家，採購金額NT30,000~NT100,000→報價單x2家，採購金額≧NT100,000→報價單x3家</a:t>
            </a:r>
            <a:r>
              <a:rPr lang="zh-TW" sz="2400">
                <a:solidFill>
                  <a:schemeClr val="dk1"/>
                </a:solidFill>
              </a:rPr>
              <a:t>。</a:t>
            </a:r>
            <a:endParaRPr sz="2400">
              <a:solidFill>
                <a:schemeClr val="dk1"/>
              </a:solidFill>
            </a:endParaRPr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zh-TW" sz="2400">
                <a:solidFill>
                  <a:schemeClr val="dk1"/>
                </a:solidFill>
              </a:rPr>
              <a:t>發票和免用統一發票收據的總計中文大寫處誤寫成阿拉伯數字，請寫”零壹貳參肆伍陸柒捌玖”。</a:t>
            </a:r>
            <a:endParaRPr sz="2400">
              <a:solidFill>
                <a:schemeClr val="dk1"/>
              </a:solidFill>
            </a:endParaRPr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zh-TW" sz="2400">
                <a:solidFill>
                  <a:schemeClr val="dk1"/>
                </a:solidFill>
              </a:rPr>
              <a:t>國內廠商之報價單、發票或收據均須載明</a:t>
            </a:r>
            <a:r>
              <a:rPr lang="zh-TW" sz="2400">
                <a:solidFill>
                  <a:schemeClr val="dk1"/>
                </a:solidFill>
                <a:highlight>
                  <a:srgbClr val="FFFF00"/>
                </a:highlight>
              </a:rPr>
              <a:t>統一編號「 50773141」</a:t>
            </a:r>
            <a:r>
              <a:rPr lang="zh-TW" sz="2400">
                <a:solidFill>
                  <a:schemeClr val="dk1"/>
                </a:solidFill>
              </a:rPr>
              <a:t>且買受人</a:t>
            </a:r>
            <a:r>
              <a:rPr lang="zh-TW" sz="2400">
                <a:solidFill>
                  <a:schemeClr val="dk1"/>
                </a:solidFill>
                <a:highlight>
                  <a:srgbClr val="FFFF00"/>
                </a:highlight>
              </a:rPr>
              <a:t>抬頭須完整標示為「台灣智慧駕駛股份有限公司」</a:t>
            </a:r>
            <a:r>
              <a:rPr lang="zh-TW" sz="2400">
                <a:solidFill>
                  <a:schemeClr val="dk1"/>
                </a:solidFill>
              </a:rPr>
              <a:t>，</a:t>
            </a:r>
            <a:r>
              <a:rPr lang="zh-TW" sz="2400">
                <a:solidFill>
                  <a:schemeClr val="dk1"/>
                </a:solidFill>
                <a:highlight>
                  <a:srgbClr val="FFFF00"/>
                </a:highlight>
              </a:rPr>
              <a:t>國外廠商之QUOTATION、INVOICE或RECEIPT的買受人必需為「TURING DRIVE INC.」</a:t>
            </a:r>
            <a:r>
              <a:rPr lang="zh-TW" sz="2400">
                <a:solidFill>
                  <a:schemeClr val="dk1"/>
                </a:solidFill>
              </a:rPr>
              <a:t>。</a:t>
            </a:r>
            <a:endParaRPr sz="2400">
              <a:solidFill>
                <a:schemeClr val="dk1"/>
              </a:solidFill>
            </a:endParaRPr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Pct val="100000"/>
              <a:buChar char="•"/>
            </a:pPr>
            <a:r>
              <a:rPr lang="zh-TW" sz="2400">
                <a:solidFill>
                  <a:schemeClr val="dk1"/>
                </a:solidFill>
                <a:highlight>
                  <a:srgbClr val="FFFF00"/>
                </a:highlight>
              </a:rPr>
              <a:t>交際費請款必需寫上宴請對象</a:t>
            </a:r>
            <a:r>
              <a:rPr lang="zh-TW" sz="2400">
                <a:solidFill>
                  <a:schemeClr val="dk1"/>
                </a:solidFill>
              </a:rPr>
              <a:t>。</a:t>
            </a:r>
            <a:endParaRPr sz="2400">
              <a:solidFill>
                <a:schemeClr val="dk1"/>
              </a:solidFill>
            </a:endParaRPr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zh-TW" sz="2400">
                <a:solidFill>
                  <a:schemeClr val="dk1"/>
                </a:solidFill>
                <a:highlight>
                  <a:srgbClr val="FFFF00"/>
                </a:highlight>
              </a:rPr>
              <a:t>申請之費用如有使用期間（如：軟體帳號使用期間及訂閱期間…等），請在費用申請單上註明</a:t>
            </a:r>
            <a:r>
              <a:rPr lang="zh-TW" sz="2400">
                <a:solidFill>
                  <a:schemeClr val="dk1"/>
                </a:solidFill>
              </a:rPr>
              <a:t>。</a:t>
            </a:r>
            <a:endParaRPr sz="2400">
              <a:solidFill>
                <a:schemeClr val="dk1"/>
              </a:solidFill>
            </a:endParaRPr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zh-TW" sz="2400">
                <a:solidFill>
                  <a:schemeClr val="dk1"/>
                </a:solidFill>
              </a:rPr>
              <a:t>如期望付款日未明確填寫日期，將會以月結30天方式安排付款（即廠商開立發票月份的次月</a:t>
            </a:r>
            <a:r>
              <a:rPr lang="zh-TW" sz="2400">
                <a:solidFill>
                  <a:schemeClr val="dk1"/>
                </a:solidFill>
              </a:rPr>
              <a:t>25</a:t>
            </a:r>
            <a:r>
              <a:rPr lang="zh-TW" sz="2400">
                <a:solidFill>
                  <a:schemeClr val="dk1"/>
                </a:solidFill>
              </a:rPr>
              <a:t>號付款）。</a:t>
            </a:r>
            <a:endParaRPr sz="2400">
              <a:solidFill>
                <a:schemeClr val="dk1"/>
              </a:solidFill>
            </a:endParaRPr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zh-TW" sz="2400">
                <a:solidFill>
                  <a:schemeClr val="dk1"/>
                </a:solidFill>
              </a:rPr>
              <a:t>請購、採購及驗收請款流程請確實按照公司採購流程進行，</a:t>
            </a:r>
            <a:r>
              <a:rPr lang="zh-TW" sz="2400">
                <a:solidFill>
                  <a:schemeClr val="dk1"/>
                </a:solidFill>
                <a:highlight>
                  <a:srgbClr val="FFFF00"/>
                </a:highlight>
              </a:rPr>
              <a:t>勿將所有文件同時送簽</a:t>
            </a:r>
            <a:r>
              <a:rPr lang="zh-TW" sz="2400">
                <a:solidFill>
                  <a:schemeClr val="dk1"/>
                </a:solidFill>
              </a:rPr>
              <a:t>。</a:t>
            </a:r>
            <a:endParaRPr sz="2400">
              <a:solidFill>
                <a:schemeClr val="dk1"/>
              </a:solidFill>
            </a:endParaRPr>
          </a:p>
        </p:txBody>
      </p:sp>
      <p:sp>
        <p:nvSpPr>
          <p:cNvPr id="165" name="Google Shape;165;p5"/>
          <p:cNvSpPr txBox="1"/>
          <p:nvPr>
            <p:ph type="title"/>
          </p:nvPr>
        </p:nvSpPr>
        <p:spPr>
          <a:xfrm>
            <a:off x="838200" y="254302"/>
            <a:ext cx="10515600" cy="95204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Avenir"/>
              <a:buNone/>
            </a:pPr>
            <a:r>
              <a:rPr lang="zh-TW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費用報支</a:t>
            </a:r>
            <a:r>
              <a:rPr lang="zh-TW">
                <a:solidFill>
                  <a:schemeClr val="dk1"/>
                </a:solidFill>
              </a:rPr>
              <a:t>注意事項</a:t>
            </a:r>
            <a:endParaRPr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66" name="Google Shape;166;p5"/>
          <p:cNvSpPr txBox="1"/>
          <p:nvPr>
            <p:ph idx="2" type="body"/>
          </p:nvPr>
        </p:nvSpPr>
        <p:spPr>
          <a:xfrm>
            <a:off x="838196" y="1027251"/>
            <a:ext cx="10515599" cy="2987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</a:pPr>
            <a:r>
              <a:t/>
            </a:r>
            <a:endParaRPr/>
          </a:p>
        </p:txBody>
      </p:sp>
      <p:sp>
        <p:nvSpPr>
          <p:cNvPr id="167" name="Google Shape;167;p5">
            <a:hlinkClick action="ppaction://hlinksldjump" r:id="rId3"/>
          </p:cNvPr>
          <p:cNvSpPr/>
          <p:nvPr/>
        </p:nvSpPr>
        <p:spPr>
          <a:xfrm>
            <a:off x="11578741" y="6356350"/>
            <a:ext cx="556593" cy="434064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  <a:moveTo>
                  <a:pt x="60000" y="15000"/>
                </a:moveTo>
                <a:lnTo>
                  <a:pt x="24906" y="60000"/>
                </a:lnTo>
                <a:lnTo>
                  <a:pt x="33680" y="60000"/>
                </a:lnTo>
                <a:lnTo>
                  <a:pt x="33680" y="105000"/>
                </a:lnTo>
                <a:lnTo>
                  <a:pt x="86320" y="105000"/>
                </a:lnTo>
                <a:lnTo>
                  <a:pt x="86320" y="60000"/>
                </a:lnTo>
                <a:lnTo>
                  <a:pt x="95094" y="60000"/>
                </a:lnTo>
                <a:lnTo>
                  <a:pt x="81934" y="43125"/>
                </a:lnTo>
                <a:lnTo>
                  <a:pt x="81934" y="20625"/>
                </a:lnTo>
                <a:lnTo>
                  <a:pt x="73160" y="20625"/>
                </a:lnTo>
                <a:lnTo>
                  <a:pt x="73160" y="31875"/>
                </a:lnTo>
                <a:close/>
              </a:path>
              <a:path extrusionOk="0" fill="darkenLess" h="120000" w="120000">
                <a:moveTo>
                  <a:pt x="81934" y="43125"/>
                </a:moveTo>
                <a:lnTo>
                  <a:pt x="81934" y="20625"/>
                </a:lnTo>
                <a:lnTo>
                  <a:pt x="73160" y="20625"/>
                </a:lnTo>
                <a:lnTo>
                  <a:pt x="73160" y="31875"/>
                </a:lnTo>
                <a:close/>
                <a:moveTo>
                  <a:pt x="33680" y="60000"/>
                </a:moveTo>
                <a:lnTo>
                  <a:pt x="33680" y="105000"/>
                </a:lnTo>
                <a:lnTo>
                  <a:pt x="55613" y="105000"/>
                </a:lnTo>
                <a:lnTo>
                  <a:pt x="55613" y="82500"/>
                </a:lnTo>
                <a:lnTo>
                  <a:pt x="64387" y="82500"/>
                </a:lnTo>
                <a:lnTo>
                  <a:pt x="64387" y="105000"/>
                </a:lnTo>
                <a:lnTo>
                  <a:pt x="86320" y="105000"/>
                </a:lnTo>
                <a:lnTo>
                  <a:pt x="86320" y="60000"/>
                </a:lnTo>
                <a:close/>
              </a:path>
              <a:path extrusionOk="0" fill="darken" h="120000" w="120000">
                <a:moveTo>
                  <a:pt x="60000" y="15000"/>
                </a:moveTo>
                <a:lnTo>
                  <a:pt x="24906" y="60000"/>
                </a:lnTo>
                <a:lnTo>
                  <a:pt x="95094" y="60000"/>
                </a:lnTo>
                <a:close/>
                <a:moveTo>
                  <a:pt x="55613" y="82500"/>
                </a:moveTo>
                <a:lnTo>
                  <a:pt x="64387" y="82500"/>
                </a:lnTo>
                <a:lnTo>
                  <a:pt x="64387" y="105000"/>
                </a:lnTo>
                <a:lnTo>
                  <a:pt x="55613" y="105000"/>
                </a:lnTo>
                <a:close/>
              </a:path>
              <a:path extrusionOk="0" fill="none" h="120000" w="120000">
                <a:moveTo>
                  <a:pt x="60000" y="15000"/>
                </a:moveTo>
                <a:lnTo>
                  <a:pt x="73160" y="31875"/>
                </a:lnTo>
                <a:lnTo>
                  <a:pt x="73160" y="20625"/>
                </a:lnTo>
                <a:lnTo>
                  <a:pt x="81934" y="20625"/>
                </a:lnTo>
                <a:lnTo>
                  <a:pt x="81934" y="43125"/>
                </a:lnTo>
                <a:lnTo>
                  <a:pt x="95094" y="60000"/>
                </a:lnTo>
                <a:lnTo>
                  <a:pt x="86320" y="60000"/>
                </a:lnTo>
                <a:lnTo>
                  <a:pt x="86320" y="105000"/>
                </a:lnTo>
                <a:lnTo>
                  <a:pt x="33680" y="105000"/>
                </a:lnTo>
                <a:lnTo>
                  <a:pt x="33680" y="60000"/>
                </a:lnTo>
                <a:lnTo>
                  <a:pt x="24906" y="60000"/>
                </a:lnTo>
                <a:close/>
                <a:moveTo>
                  <a:pt x="73160" y="31875"/>
                </a:moveTo>
                <a:lnTo>
                  <a:pt x="81934" y="43125"/>
                </a:lnTo>
                <a:moveTo>
                  <a:pt x="86320" y="60000"/>
                </a:moveTo>
                <a:lnTo>
                  <a:pt x="33680" y="60000"/>
                </a:lnTo>
                <a:moveTo>
                  <a:pt x="55613" y="105000"/>
                </a:moveTo>
                <a:lnTo>
                  <a:pt x="55613" y="82500"/>
                </a:lnTo>
                <a:lnTo>
                  <a:pt x="64387" y="82500"/>
                </a:lnTo>
                <a:lnTo>
                  <a:pt x="64387" y="105000"/>
                </a:lnTo>
              </a:path>
              <a:path extrusionOk="0" fill="none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gradFill>
            <a:gsLst>
              <a:gs pos="0">
                <a:srgbClr val="93D7DE"/>
              </a:gs>
              <a:gs pos="50000">
                <a:srgbClr val="7FD5DE"/>
              </a:gs>
              <a:gs pos="100000">
                <a:srgbClr val="6CC0C8"/>
              </a:gs>
            </a:gsLst>
            <a:lin ang="5400000" scaled="0"/>
          </a:gradFill>
          <a:ln>
            <a:noFill/>
          </a:ln>
          <a:effectLst>
            <a:outerShdw blurRad="57150" rotWithShape="0" algn="ctr" dir="5400000" dist="19050">
              <a:srgbClr val="000000">
                <a:alpha val="6313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74" name="Google Shape;174;p6"/>
          <p:cNvSpPr txBox="1"/>
          <p:nvPr>
            <p:ph idx="1" type="body"/>
          </p:nvPr>
        </p:nvSpPr>
        <p:spPr>
          <a:xfrm>
            <a:off x="648675" y="1375175"/>
            <a:ext cx="11360100" cy="481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zh-TW" sz="1400">
                <a:solidFill>
                  <a:schemeClr val="dk1"/>
                </a:solidFill>
              </a:rPr>
              <a:t>若是以悠遊卡搭乘公營事業大眾交通工具者，請檢附該官方網站的購票證明(需自行列印)，請勿以購票頁面或訂單取代。</a:t>
            </a:r>
            <a:endParaRPr sz="1400">
              <a:solidFill>
                <a:schemeClr val="dk1"/>
              </a:solidFill>
            </a:endParaRPr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zh-TW" sz="1400">
                <a:solidFill>
                  <a:schemeClr val="dk1"/>
                </a:solidFill>
                <a:highlight>
                  <a:srgbClr val="FFFF00"/>
                </a:highlight>
              </a:rPr>
              <a:t>核銷國外差旅機票費用，應有「</a:t>
            </a:r>
            <a:r>
              <a:rPr b="1" lang="zh-TW" sz="1600">
                <a:solidFill>
                  <a:schemeClr val="dk1"/>
                </a:solidFill>
                <a:highlight>
                  <a:srgbClr val="FFFF00"/>
                </a:highlight>
              </a:rPr>
              <a:t>機票票根或電子機票</a:t>
            </a:r>
            <a:r>
              <a:rPr lang="zh-TW" sz="1400">
                <a:solidFill>
                  <a:schemeClr val="dk1"/>
                </a:solidFill>
                <a:highlight>
                  <a:srgbClr val="FFFF00"/>
                </a:highlight>
              </a:rPr>
              <a:t>」、「</a:t>
            </a:r>
            <a:r>
              <a:rPr b="1" lang="zh-TW" sz="1600">
                <a:solidFill>
                  <a:schemeClr val="dk1"/>
                </a:solidFill>
                <a:highlight>
                  <a:srgbClr val="FFFF00"/>
                </a:highlight>
              </a:rPr>
              <a:t>登機證</a:t>
            </a:r>
            <a:r>
              <a:rPr lang="zh-TW" sz="1400">
                <a:solidFill>
                  <a:schemeClr val="dk1"/>
                </a:solidFill>
                <a:highlight>
                  <a:srgbClr val="FFFF00"/>
                </a:highlight>
              </a:rPr>
              <a:t>」及「</a:t>
            </a:r>
            <a:r>
              <a:rPr b="1" lang="zh-TW" sz="1600">
                <a:solidFill>
                  <a:schemeClr val="dk1"/>
                </a:solidFill>
                <a:highlight>
                  <a:srgbClr val="FFFF00"/>
                </a:highlight>
              </a:rPr>
              <a:t>旅</a:t>
            </a:r>
            <a:r>
              <a:rPr b="1" lang="zh-TW" sz="1600">
                <a:solidFill>
                  <a:schemeClr val="dk1"/>
                </a:solidFill>
                <a:highlight>
                  <a:srgbClr val="FFFF00"/>
                </a:highlight>
              </a:rPr>
              <a:t>行業者之代收轉付收據或機票購票證明</a:t>
            </a:r>
            <a:r>
              <a:rPr lang="zh-TW" sz="1400">
                <a:solidFill>
                  <a:schemeClr val="dk1"/>
                </a:solidFill>
                <a:highlight>
                  <a:srgbClr val="FFFF00"/>
                </a:highlight>
              </a:rPr>
              <a:t>」，以上缺其一不可。</a:t>
            </a:r>
            <a:endParaRPr sz="1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Pts val="1400"/>
              <a:buChar char="•"/>
            </a:pPr>
            <a:r>
              <a:rPr lang="zh-TW" sz="1400">
                <a:solidFill>
                  <a:schemeClr val="dk1"/>
                </a:solidFill>
                <a:highlight>
                  <a:srgbClr val="FFFF00"/>
                </a:highlight>
              </a:rPr>
              <a:t>交際費請款必需寫上宴請對象。</a:t>
            </a:r>
            <a:endParaRPr sz="1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zh-TW" sz="1400">
                <a:solidFill>
                  <a:schemeClr val="dk1"/>
                </a:solidFill>
                <a:highlight>
                  <a:srgbClr val="FFFF00"/>
                </a:highlight>
              </a:rPr>
              <a:t>發票或收據買受人需為台灣智慧駕駛股份有限公司、統一編號為50773141，國外INVOICE或RECEIPT買受人需為TURING DRIVE INC.</a:t>
            </a:r>
            <a:r>
              <a:rPr lang="zh-TW" sz="1400">
                <a:solidFill>
                  <a:schemeClr val="dk1"/>
                </a:solidFill>
              </a:rPr>
              <a:t>。</a:t>
            </a:r>
            <a:endParaRPr sz="1400">
              <a:solidFill>
                <a:schemeClr val="dk1"/>
              </a:solidFill>
            </a:endParaRPr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zh-TW" sz="1400">
                <a:solidFill>
                  <a:schemeClr val="dk1"/>
                </a:solidFill>
              </a:rPr>
              <a:t>賣方名稱、統一編號、地址、電話應清晰可辦認；發票或收據若有書寫錯誤、塗改或模糊不清者均無效，需請賣方重新開立。</a:t>
            </a:r>
            <a:endParaRPr sz="1400">
              <a:solidFill>
                <a:schemeClr val="dk1"/>
              </a:solidFill>
            </a:endParaRPr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zh-TW" sz="1400">
                <a:solidFill>
                  <a:schemeClr val="dk1"/>
                </a:solidFill>
              </a:rPr>
              <a:t>數量乘以單價應等於總金額並應與中文大寫金額相同；發票和免用統一發票收據的總計中文大寫處，請寫”零壹貳參肆伍陸柒捌玖”。</a:t>
            </a:r>
            <a:endParaRPr sz="1400">
              <a:solidFill>
                <a:schemeClr val="dk1"/>
              </a:solidFill>
            </a:endParaRPr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zh-TW" sz="1400">
                <a:solidFill>
                  <a:schemeClr val="dk1"/>
                </a:solidFill>
              </a:rPr>
              <a:t>發票、收據等原始憑證應依請款順序(不可跳日期)整齊貼於A4紙上。</a:t>
            </a:r>
            <a:endParaRPr sz="1400">
              <a:solidFill>
                <a:schemeClr val="dk1"/>
              </a:solidFill>
            </a:endParaRPr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Pts val="1400"/>
              <a:buChar char="•"/>
            </a:pPr>
            <a:r>
              <a:rPr lang="zh-TW" sz="1400">
                <a:solidFill>
                  <a:schemeClr val="dk1"/>
                </a:solidFill>
              </a:rPr>
              <a:t>所有憑證應以發生事實載具。</a:t>
            </a:r>
            <a:endParaRPr sz="1400">
              <a:solidFill>
                <a:schemeClr val="dk1"/>
              </a:solidFill>
            </a:endParaRPr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zh-TW" sz="1400">
                <a:solidFill>
                  <a:schemeClr val="dk1"/>
                </a:solidFill>
                <a:highlight>
                  <a:srgbClr val="FFFF00"/>
                </a:highlight>
              </a:rPr>
              <a:t>請檢附公出申請單（含本次費用報銷同行同仁的公出申請單）。</a:t>
            </a:r>
            <a:endParaRPr sz="1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B050"/>
              </a:buClr>
              <a:buSzPts val="1400"/>
              <a:buChar char="•"/>
            </a:pPr>
            <a:r>
              <a:rPr b="1" lang="zh-TW" sz="1400">
                <a:solidFill>
                  <a:srgbClr val="00B050"/>
                </a:solidFill>
              </a:rPr>
              <a:t>相關規定請參閱： </a:t>
            </a:r>
            <a:r>
              <a:rPr b="1" lang="zh-TW" sz="1400" u="sng">
                <a:solidFill>
                  <a:srgbClr val="00B050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20250303_員工出差管理辦法</a:t>
            </a:r>
            <a:r>
              <a:rPr b="1" lang="zh-TW" sz="1400">
                <a:solidFill>
                  <a:srgbClr val="00B050"/>
                </a:solidFill>
              </a:rPr>
              <a:t>。</a:t>
            </a:r>
            <a:endParaRPr b="1" sz="1400">
              <a:solidFill>
                <a:srgbClr val="00B050"/>
              </a:solidFill>
            </a:endParaRPr>
          </a:p>
        </p:txBody>
      </p:sp>
      <p:sp>
        <p:nvSpPr>
          <p:cNvPr id="175" name="Google Shape;175;p6"/>
          <p:cNvSpPr txBox="1"/>
          <p:nvPr>
            <p:ph type="title"/>
          </p:nvPr>
        </p:nvSpPr>
        <p:spPr>
          <a:xfrm>
            <a:off x="838200" y="254302"/>
            <a:ext cx="10515600" cy="95204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Avenir"/>
              <a:buNone/>
            </a:pPr>
            <a:r>
              <a:rPr lang="zh-TW">
                <a:solidFill>
                  <a:schemeClr val="dk1"/>
                </a:solidFill>
              </a:rPr>
              <a:t>出差報支申請須知&amp;注意事項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6" name="Google Shape;176;p6"/>
          <p:cNvSpPr txBox="1"/>
          <p:nvPr>
            <p:ph idx="2" type="body"/>
          </p:nvPr>
        </p:nvSpPr>
        <p:spPr>
          <a:xfrm>
            <a:off x="838196" y="1027251"/>
            <a:ext cx="10515599" cy="2987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</a:pPr>
            <a:r>
              <a:t/>
            </a:r>
            <a:endParaRPr/>
          </a:p>
        </p:txBody>
      </p:sp>
      <p:sp>
        <p:nvSpPr>
          <p:cNvPr id="177" name="Google Shape;177;p6">
            <a:hlinkClick action="ppaction://hlinksldjump" r:id="rId4"/>
          </p:cNvPr>
          <p:cNvSpPr/>
          <p:nvPr/>
        </p:nvSpPr>
        <p:spPr>
          <a:xfrm>
            <a:off x="11578741" y="6356350"/>
            <a:ext cx="556593" cy="434064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  <a:moveTo>
                  <a:pt x="60000" y="15000"/>
                </a:moveTo>
                <a:lnTo>
                  <a:pt x="24906" y="60000"/>
                </a:lnTo>
                <a:lnTo>
                  <a:pt x="33680" y="60000"/>
                </a:lnTo>
                <a:lnTo>
                  <a:pt x="33680" y="105000"/>
                </a:lnTo>
                <a:lnTo>
                  <a:pt x="86320" y="105000"/>
                </a:lnTo>
                <a:lnTo>
                  <a:pt x="86320" y="60000"/>
                </a:lnTo>
                <a:lnTo>
                  <a:pt x="95094" y="60000"/>
                </a:lnTo>
                <a:lnTo>
                  <a:pt x="81934" y="43125"/>
                </a:lnTo>
                <a:lnTo>
                  <a:pt x="81934" y="20625"/>
                </a:lnTo>
                <a:lnTo>
                  <a:pt x="73160" y="20625"/>
                </a:lnTo>
                <a:lnTo>
                  <a:pt x="73160" y="31875"/>
                </a:lnTo>
                <a:close/>
              </a:path>
              <a:path extrusionOk="0" fill="darkenLess" h="120000" w="120000">
                <a:moveTo>
                  <a:pt x="81934" y="43125"/>
                </a:moveTo>
                <a:lnTo>
                  <a:pt x="81934" y="20625"/>
                </a:lnTo>
                <a:lnTo>
                  <a:pt x="73160" y="20625"/>
                </a:lnTo>
                <a:lnTo>
                  <a:pt x="73160" y="31875"/>
                </a:lnTo>
                <a:close/>
                <a:moveTo>
                  <a:pt x="33680" y="60000"/>
                </a:moveTo>
                <a:lnTo>
                  <a:pt x="33680" y="105000"/>
                </a:lnTo>
                <a:lnTo>
                  <a:pt x="55613" y="105000"/>
                </a:lnTo>
                <a:lnTo>
                  <a:pt x="55613" y="82500"/>
                </a:lnTo>
                <a:lnTo>
                  <a:pt x="64387" y="82500"/>
                </a:lnTo>
                <a:lnTo>
                  <a:pt x="64387" y="105000"/>
                </a:lnTo>
                <a:lnTo>
                  <a:pt x="86320" y="105000"/>
                </a:lnTo>
                <a:lnTo>
                  <a:pt x="86320" y="60000"/>
                </a:lnTo>
                <a:close/>
              </a:path>
              <a:path extrusionOk="0" fill="darken" h="120000" w="120000">
                <a:moveTo>
                  <a:pt x="60000" y="15000"/>
                </a:moveTo>
                <a:lnTo>
                  <a:pt x="24906" y="60000"/>
                </a:lnTo>
                <a:lnTo>
                  <a:pt x="95094" y="60000"/>
                </a:lnTo>
                <a:close/>
                <a:moveTo>
                  <a:pt x="55613" y="82500"/>
                </a:moveTo>
                <a:lnTo>
                  <a:pt x="64387" y="82500"/>
                </a:lnTo>
                <a:lnTo>
                  <a:pt x="64387" y="105000"/>
                </a:lnTo>
                <a:lnTo>
                  <a:pt x="55613" y="105000"/>
                </a:lnTo>
                <a:close/>
              </a:path>
              <a:path extrusionOk="0" fill="none" h="120000" w="120000">
                <a:moveTo>
                  <a:pt x="60000" y="15000"/>
                </a:moveTo>
                <a:lnTo>
                  <a:pt x="73160" y="31875"/>
                </a:lnTo>
                <a:lnTo>
                  <a:pt x="73160" y="20625"/>
                </a:lnTo>
                <a:lnTo>
                  <a:pt x="81934" y="20625"/>
                </a:lnTo>
                <a:lnTo>
                  <a:pt x="81934" y="43125"/>
                </a:lnTo>
                <a:lnTo>
                  <a:pt x="95094" y="60000"/>
                </a:lnTo>
                <a:lnTo>
                  <a:pt x="86320" y="60000"/>
                </a:lnTo>
                <a:lnTo>
                  <a:pt x="86320" y="105000"/>
                </a:lnTo>
                <a:lnTo>
                  <a:pt x="33680" y="105000"/>
                </a:lnTo>
                <a:lnTo>
                  <a:pt x="33680" y="60000"/>
                </a:lnTo>
                <a:lnTo>
                  <a:pt x="24906" y="60000"/>
                </a:lnTo>
                <a:close/>
                <a:moveTo>
                  <a:pt x="73160" y="31875"/>
                </a:moveTo>
                <a:lnTo>
                  <a:pt x="81934" y="43125"/>
                </a:lnTo>
                <a:moveTo>
                  <a:pt x="86320" y="60000"/>
                </a:moveTo>
                <a:lnTo>
                  <a:pt x="33680" y="60000"/>
                </a:lnTo>
                <a:moveTo>
                  <a:pt x="55613" y="105000"/>
                </a:moveTo>
                <a:lnTo>
                  <a:pt x="55613" y="82500"/>
                </a:lnTo>
                <a:lnTo>
                  <a:pt x="64387" y="82500"/>
                </a:lnTo>
                <a:lnTo>
                  <a:pt x="64387" y="105000"/>
                </a:lnTo>
              </a:path>
              <a:path extrusionOk="0" fill="none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gradFill>
            <a:gsLst>
              <a:gs pos="0">
                <a:srgbClr val="93D7DE"/>
              </a:gs>
              <a:gs pos="50000">
                <a:srgbClr val="7FD5DE"/>
              </a:gs>
              <a:gs pos="100000">
                <a:srgbClr val="6CC0C8"/>
              </a:gs>
            </a:gsLst>
            <a:lin ang="5400000" scaled="0"/>
          </a:gradFill>
          <a:ln>
            <a:noFill/>
          </a:ln>
          <a:effectLst>
            <a:outerShdw blurRad="57150" rotWithShape="0" algn="ctr" dir="5400000" dist="19050">
              <a:srgbClr val="000000">
                <a:alpha val="6313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83" name="Google Shape;183;p7"/>
          <p:cNvSpPr txBox="1"/>
          <p:nvPr>
            <p:ph idx="1" type="body"/>
          </p:nvPr>
        </p:nvSpPr>
        <p:spPr>
          <a:xfrm>
            <a:off x="757084" y="1340974"/>
            <a:ext cx="11238271" cy="5015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r>
              <a:rPr lang="zh-TW" sz="2200">
                <a:latin typeface="Avenir"/>
                <a:ea typeface="Avenir"/>
                <a:cs typeface="Avenir"/>
                <a:sym typeface="Avenir"/>
              </a:rPr>
              <a:t>核銷與報支流程指引：</a:t>
            </a:r>
            <a:endParaRPr sz="2200"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r>
              <a:rPr b="1" lang="zh-TW" sz="22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1. 表單下載路徑 (SharePoint)：</a:t>
            </a:r>
            <a:endParaRPr b="1" sz="22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Pts val="2400"/>
              <a:buNone/>
            </a:pPr>
            <a:r>
              <a:rPr lang="zh-TW" sz="22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費用報支：Turing Drive 公告與資源 &gt; </a:t>
            </a:r>
            <a:r>
              <a:rPr lang="zh-TW" sz="2200">
                <a:solidFill>
                  <a:schemeClr val="dk1"/>
                </a:solidFill>
              </a:rPr>
              <a:t>財會</a:t>
            </a:r>
            <a:r>
              <a:rPr lang="zh-TW" sz="22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專區 &gt; </a:t>
            </a:r>
            <a:r>
              <a:rPr lang="zh-TW" sz="2200" u="sng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請採驗費用申請單</a:t>
            </a:r>
            <a:r>
              <a:rPr lang="zh-TW" sz="22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。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Pts val="2400"/>
              <a:buNone/>
            </a:pPr>
            <a:r>
              <a:rPr lang="zh-TW" sz="22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出差報支：Turing Drive 公告與資源 &gt; 人資專區 &gt; 出勤出差 &gt; </a:t>
            </a:r>
            <a:r>
              <a:rPr lang="zh-TW" sz="2200" u="sng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出差報告暨旅費報支單</a:t>
            </a:r>
            <a:r>
              <a:rPr lang="zh-TW" sz="22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。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r>
              <a:rPr b="1" lang="zh-TW" sz="22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2. 注意事項：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r>
              <a:rPr lang="zh-TW" sz="22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詳閱規定：填寫前請詳閱表單注意事項。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r>
              <a:rPr lang="zh-TW" sz="22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後續核銷：</a:t>
            </a:r>
            <a:r>
              <a:rPr lang="zh-TW" sz="2200">
                <a:solidFill>
                  <a:schemeClr val="dk1"/>
                </a:solidFill>
              </a:rPr>
              <a:t>簽核完成後，請將紙本文件及原始發票/收據交至財會部。</a:t>
            </a:r>
            <a:r>
              <a:rPr lang="zh-TW" sz="22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。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Pts val="2400"/>
              <a:buNone/>
            </a:pPr>
            <a:r>
              <a:rPr lang="zh-TW" sz="2200">
                <a:solidFill>
                  <a:schemeClr val="dk1"/>
                </a:solidFill>
                <a:highlight>
                  <a:srgbClr val="FFFF00"/>
                </a:highlight>
                <a:latin typeface="Avenir"/>
                <a:ea typeface="Avenir"/>
                <a:cs typeface="Avenir"/>
                <a:sym typeface="Avenir"/>
              </a:rPr>
              <a:t>主動補件：</a:t>
            </a:r>
            <a:r>
              <a:rPr lang="zh-TW" sz="2200">
                <a:solidFill>
                  <a:schemeClr val="dk1"/>
                </a:solidFill>
                <a:highlight>
                  <a:srgbClr val="FFFF00"/>
                </a:highlight>
              </a:rPr>
              <a:t>若發票或驗收單需後補，請自行記錄追蹤並主動補齊</a:t>
            </a:r>
            <a:r>
              <a:rPr lang="zh-TW" sz="2200">
                <a:solidFill>
                  <a:schemeClr val="dk1"/>
                </a:solidFill>
                <a:highlight>
                  <a:srgbClr val="FFFF00"/>
                </a:highlight>
                <a:latin typeface="Avenir"/>
                <a:ea typeface="Avenir"/>
                <a:cs typeface="Avenir"/>
                <a:sym typeface="Avenir"/>
              </a:rPr>
              <a:t>。</a:t>
            </a:r>
            <a:endParaRPr sz="2200">
              <a:solidFill>
                <a:schemeClr val="dk1"/>
              </a:solidFill>
              <a:highlight>
                <a:srgbClr val="FFFF00"/>
              </a:highlight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r>
              <a:rPr lang="zh-TW" sz="2200">
                <a:solidFill>
                  <a:schemeClr val="dk1"/>
                </a:solidFill>
              </a:rPr>
              <a:t>附件標記：若原請購單包含多個品項，報支時請檢附「請購單影本」</a:t>
            </a:r>
            <a:r>
              <a:rPr b="1" lang="zh-TW" sz="2200">
                <a:solidFill>
                  <a:schemeClr val="dk1"/>
                </a:solidFill>
              </a:rPr>
              <a:t>，</a:t>
            </a:r>
            <a:r>
              <a:rPr lang="zh-TW" sz="2200">
                <a:solidFill>
                  <a:schemeClr val="dk1"/>
                </a:solidFill>
              </a:rPr>
              <a:t>並清楚標記本次核銷之項目</a:t>
            </a:r>
            <a:r>
              <a:rPr lang="zh-TW" sz="22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。</a:t>
            </a:r>
            <a:endParaRPr sz="22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600"/>
              <a:buNone/>
            </a:pPr>
            <a:r>
              <a:t/>
            </a:r>
            <a:endParaRPr sz="2600">
              <a:solidFill>
                <a:srgbClr val="00B0F0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84" name="Google Shape;184;p7"/>
          <p:cNvSpPr txBox="1"/>
          <p:nvPr>
            <p:ph type="title"/>
          </p:nvPr>
        </p:nvSpPr>
        <p:spPr>
          <a:xfrm>
            <a:off x="838200" y="254302"/>
            <a:ext cx="10515600" cy="95204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Avenir"/>
              <a:buNone/>
            </a:pPr>
            <a:r>
              <a:rPr lang="zh-TW">
                <a:solidFill>
                  <a:schemeClr val="dk1"/>
                </a:solidFill>
              </a:rPr>
              <a:t>報支申請單_紙本簽核版Ⅰ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5" name="Google Shape;185;p7"/>
          <p:cNvSpPr txBox="1"/>
          <p:nvPr>
            <p:ph idx="2" type="body"/>
          </p:nvPr>
        </p:nvSpPr>
        <p:spPr>
          <a:xfrm>
            <a:off x="838196" y="1027251"/>
            <a:ext cx="10515599" cy="2987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91" name="Google Shape;191;p8"/>
          <p:cNvSpPr txBox="1"/>
          <p:nvPr>
            <p:ph type="title"/>
          </p:nvPr>
        </p:nvSpPr>
        <p:spPr>
          <a:xfrm>
            <a:off x="838200" y="254302"/>
            <a:ext cx="10515600" cy="95204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Avenir"/>
              <a:buNone/>
            </a:pPr>
            <a:r>
              <a:rPr lang="zh-TW">
                <a:solidFill>
                  <a:schemeClr val="dk1"/>
                </a:solidFill>
              </a:rPr>
              <a:t>報支申請單_紙本簽核版Ⅱ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92" name="Google Shape;192;p8"/>
          <p:cNvSpPr txBox="1"/>
          <p:nvPr>
            <p:ph idx="2" type="body"/>
          </p:nvPr>
        </p:nvSpPr>
        <p:spPr>
          <a:xfrm>
            <a:off x="838196" y="1027251"/>
            <a:ext cx="10515599" cy="2987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</a:pPr>
            <a:r>
              <a:t/>
            </a:r>
            <a:endParaRPr/>
          </a:p>
        </p:txBody>
      </p:sp>
      <p:sp>
        <p:nvSpPr>
          <p:cNvPr id="193" name="Google Shape;193;p8">
            <a:hlinkClick action="ppaction://hlinksldjump" r:id="rId3"/>
          </p:cNvPr>
          <p:cNvSpPr/>
          <p:nvPr/>
        </p:nvSpPr>
        <p:spPr>
          <a:xfrm>
            <a:off x="11578741" y="6356350"/>
            <a:ext cx="556593" cy="434064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  <a:moveTo>
                  <a:pt x="60000" y="15000"/>
                </a:moveTo>
                <a:lnTo>
                  <a:pt x="24906" y="60000"/>
                </a:lnTo>
                <a:lnTo>
                  <a:pt x="33680" y="60000"/>
                </a:lnTo>
                <a:lnTo>
                  <a:pt x="33680" y="105000"/>
                </a:lnTo>
                <a:lnTo>
                  <a:pt x="86320" y="105000"/>
                </a:lnTo>
                <a:lnTo>
                  <a:pt x="86320" y="60000"/>
                </a:lnTo>
                <a:lnTo>
                  <a:pt x="95094" y="60000"/>
                </a:lnTo>
                <a:lnTo>
                  <a:pt x="81934" y="43125"/>
                </a:lnTo>
                <a:lnTo>
                  <a:pt x="81934" y="20625"/>
                </a:lnTo>
                <a:lnTo>
                  <a:pt x="73160" y="20625"/>
                </a:lnTo>
                <a:lnTo>
                  <a:pt x="73160" y="31875"/>
                </a:lnTo>
                <a:close/>
              </a:path>
              <a:path extrusionOk="0" fill="darkenLess" h="120000" w="120000">
                <a:moveTo>
                  <a:pt x="81934" y="43125"/>
                </a:moveTo>
                <a:lnTo>
                  <a:pt x="81934" y="20625"/>
                </a:lnTo>
                <a:lnTo>
                  <a:pt x="73160" y="20625"/>
                </a:lnTo>
                <a:lnTo>
                  <a:pt x="73160" y="31875"/>
                </a:lnTo>
                <a:close/>
                <a:moveTo>
                  <a:pt x="33680" y="60000"/>
                </a:moveTo>
                <a:lnTo>
                  <a:pt x="33680" y="105000"/>
                </a:lnTo>
                <a:lnTo>
                  <a:pt x="55613" y="105000"/>
                </a:lnTo>
                <a:lnTo>
                  <a:pt x="55613" y="82500"/>
                </a:lnTo>
                <a:lnTo>
                  <a:pt x="64387" y="82500"/>
                </a:lnTo>
                <a:lnTo>
                  <a:pt x="64387" y="105000"/>
                </a:lnTo>
                <a:lnTo>
                  <a:pt x="86320" y="105000"/>
                </a:lnTo>
                <a:lnTo>
                  <a:pt x="86320" y="60000"/>
                </a:lnTo>
                <a:close/>
              </a:path>
              <a:path extrusionOk="0" fill="darken" h="120000" w="120000">
                <a:moveTo>
                  <a:pt x="60000" y="15000"/>
                </a:moveTo>
                <a:lnTo>
                  <a:pt x="24906" y="60000"/>
                </a:lnTo>
                <a:lnTo>
                  <a:pt x="95094" y="60000"/>
                </a:lnTo>
                <a:close/>
                <a:moveTo>
                  <a:pt x="55613" y="82500"/>
                </a:moveTo>
                <a:lnTo>
                  <a:pt x="64387" y="82500"/>
                </a:lnTo>
                <a:lnTo>
                  <a:pt x="64387" y="105000"/>
                </a:lnTo>
                <a:lnTo>
                  <a:pt x="55613" y="105000"/>
                </a:lnTo>
                <a:close/>
              </a:path>
              <a:path extrusionOk="0" fill="none" h="120000" w="120000">
                <a:moveTo>
                  <a:pt x="60000" y="15000"/>
                </a:moveTo>
                <a:lnTo>
                  <a:pt x="73160" y="31875"/>
                </a:lnTo>
                <a:lnTo>
                  <a:pt x="73160" y="20625"/>
                </a:lnTo>
                <a:lnTo>
                  <a:pt x="81934" y="20625"/>
                </a:lnTo>
                <a:lnTo>
                  <a:pt x="81934" y="43125"/>
                </a:lnTo>
                <a:lnTo>
                  <a:pt x="95094" y="60000"/>
                </a:lnTo>
                <a:lnTo>
                  <a:pt x="86320" y="60000"/>
                </a:lnTo>
                <a:lnTo>
                  <a:pt x="86320" y="105000"/>
                </a:lnTo>
                <a:lnTo>
                  <a:pt x="33680" y="105000"/>
                </a:lnTo>
                <a:lnTo>
                  <a:pt x="33680" y="60000"/>
                </a:lnTo>
                <a:lnTo>
                  <a:pt x="24906" y="60000"/>
                </a:lnTo>
                <a:close/>
                <a:moveTo>
                  <a:pt x="73160" y="31875"/>
                </a:moveTo>
                <a:lnTo>
                  <a:pt x="81934" y="43125"/>
                </a:lnTo>
                <a:moveTo>
                  <a:pt x="86320" y="60000"/>
                </a:moveTo>
                <a:lnTo>
                  <a:pt x="33680" y="60000"/>
                </a:lnTo>
                <a:moveTo>
                  <a:pt x="55613" y="105000"/>
                </a:moveTo>
                <a:lnTo>
                  <a:pt x="55613" y="82500"/>
                </a:lnTo>
                <a:lnTo>
                  <a:pt x="64387" y="82500"/>
                </a:lnTo>
                <a:lnTo>
                  <a:pt x="64387" y="105000"/>
                </a:lnTo>
              </a:path>
              <a:path extrusionOk="0" fill="none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gradFill>
            <a:gsLst>
              <a:gs pos="0">
                <a:srgbClr val="93D7DE"/>
              </a:gs>
              <a:gs pos="50000">
                <a:srgbClr val="7FD5DE"/>
              </a:gs>
              <a:gs pos="100000">
                <a:srgbClr val="6CC0C8"/>
              </a:gs>
            </a:gsLst>
            <a:lin ang="5400000" scaled="0"/>
          </a:gradFill>
          <a:ln>
            <a:noFill/>
          </a:ln>
          <a:effectLst>
            <a:outerShdw blurRad="57150" rotWithShape="0" algn="ctr" dir="5400000" dist="19050">
              <a:srgbClr val="000000">
                <a:alpha val="6313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194" name="Google Shape;194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9098" y="1471521"/>
            <a:ext cx="11353804" cy="4630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200" name="Google Shape;200;p9"/>
          <p:cNvSpPr txBox="1"/>
          <p:nvPr>
            <p:ph type="title"/>
          </p:nvPr>
        </p:nvSpPr>
        <p:spPr>
          <a:xfrm>
            <a:off x="838200" y="254302"/>
            <a:ext cx="10515600" cy="95204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Avenir"/>
              <a:buNone/>
            </a:pPr>
            <a:r>
              <a:rPr lang="zh-TW">
                <a:solidFill>
                  <a:schemeClr val="dk1"/>
                </a:solidFill>
              </a:rPr>
              <a:t>報支申請單_紙本簽核版Ⅲ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01" name="Google Shape;201;p9"/>
          <p:cNvSpPr txBox="1"/>
          <p:nvPr>
            <p:ph idx="2" type="body"/>
          </p:nvPr>
        </p:nvSpPr>
        <p:spPr>
          <a:xfrm>
            <a:off x="838196" y="1027251"/>
            <a:ext cx="10515599" cy="2987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</a:pPr>
            <a:r>
              <a:t/>
            </a:r>
            <a:endParaRPr/>
          </a:p>
        </p:txBody>
      </p:sp>
      <p:sp>
        <p:nvSpPr>
          <p:cNvPr id="202" name="Google Shape;202;p9">
            <a:hlinkClick action="ppaction://hlinksldjump" r:id="rId3"/>
          </p:cNvPr>
          <p:cNvSpPr/>
          <p:nvPr/>
        </p:nvSpPr>
        <p:spPr>
          <a:xfrm>
            <a:off x="11578741" y="6356350"/>
            <a:ext cx="556593" cy="434064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  <a:moveTo>
                  <a:pt x="60000" y="15000"/>
                </a:moveTo>
                <a:lnTo>
                  <a:pt x="24906" y="60000"/>
                </a:lnTo>
                <a:lnTo>
                  <a:pt x="33680" y="60000"/>
                </a:lnTo>
                <a:lnTo>
                  <a:pt x="33680" y="105000"/>
                </a:lnTo>
                <a:lnTo>
                  <a:pt x="86320" y="105000"/>
                </a:lnTo>
                <a:lnTo>
                  <a:pt x="86320" y="60000"/>
                </a:lnTo>
                <a:lnTo>
                  <a:pt x="95094" y="60000"/>
                </a:lnTo>
                <a:lnTo>
                  <a:pt x="81934" y="43125"/>
                </a:lnTo>
                <a:lnTo>
                  <a:pt x="81934" y="20625"/>
                </a:lnTo>
                <a:lnTo>
                  <a:pt x="73160" y="20625"/>
                </a:lnTo>
                <a:lnTo>
                  <a:pt x="73160" y="31875"/>
                </a:lnTo>
                <a:close/>
              </a:path>
              <a:path extrusionOk="0" fill="darkenLess" h="120000" w="120000">
                <a:moveTo>
                  <a:pt x="81934" y="43125"/>
                </a:moveTo>
                <a:lnTo>
                  <a:pt x="81934" y="20625"/>
                </a:lnTo>
                <a:lnTo>
                  <a:pt x="73160" y="20625"/>
                </a:lnTo>
                <a:lnTo>
                  <a:pt x="73160" y="31875"/>
                </a:lnTo>
                <a:close/>
                <a:moveTo>
                  <a:pt x="33680" y="60000"/>
                </a:moveTo>
                <a:lnTo>
                  <a:pt x="33680" y="105000"/>
                </a:lnTo>
                <a:lnTo>
                  <a:pt x="55613" y="105000"/>
                </a:lnTo>
                <a:lnTo>
                  <a:pt x="55613" y="82500"/>
                </a:lnTo>
                <a:lnTo>
                  <a:pt x="64387" y="82500"/>
                </a:lnTo>
                <a:lnTo>
                  <a:pt x="64387" y="105000"/>
                </a:lnTo>
                <a:lnTo>
                  <a:pt x="86320" y="105000"/>
                </a:lnTo>
                <a:lnTo>
                  <a:pt x="86320" y="60000"/>
                </a:lnTo>
                <a:close/>
              </a:path>
              <a:path extrusionOk="0" fill="darken" h="120000" w="120000">
                <a:moveTo>
                  <a:pt x="60000" y="15000"/>
                </a:moveTo>
                <a:lnTo>
                  <a:pt x="24906" y="60000"/>
                </a:lnTo>
                <a:lnTo>
                  <a:pt x="95094" y="60000"/>
                </a:lnTo>
                <a:close/>
                <a:moveTo>
                  <a:pt x="55613" y="82500"/>
                </a:moveTo>
                <a:lnTo>
                  <a:pt x="64387" y="82500"/>
                </a:lnTo>
                <a:lnTo>
                  <a:pt x="64387" y="105000"/>
                </a:lnTo>
                <a:lnTo>
                  <a:pt x="55613" y="105000"/>
                </a:lnTo>
                <a:close/>
              </a:path>
              <a:path extrusionOk="0" fill="none" h="120000" w="120000">
                <a:moveTo>
                  <a:pt x="60000" y="15000"/>
                </a:moveTo>
                <a:lnTo>
                  <a:pt x="73160" y="31875"/>
                </a:lnTo>
                <a:lnTo>
                  <a:pt x="73160" y="20625"/>
                </a:lnTo>
                <a:lnTo>
                  <a:pt x="81934" y="20625"/>
                </a:lnTo>
                <a:lnTo>
                  <a:pt x="81934" y="43125"/>
                </a:lnTo>
                <a:lnTo>
                  <a:pt x="95094" y="60000"/>
                </a:lnTo>
                <a:lnTo>
                  <a:pt x="86320" y="60000"/>
                </a:lnTo>
                <a:lnTo>
                  <a:pt x="86320" y="105000"/>
                </a:lnTo>
                <a:lnTo>
                  <a:pt x="33680" y="105000"/>
                </a:lnTo>
                <a:lnTo>
                  <a:pt x="33680" y="60000"/>
                </a:lnTo>
                <a:lnTo>
                  <a:pt x="24906" y="60000"/>
                </a:lnTo>
                <a:close/>
                <a:moveTo>
                  <a:pt x="73160" y="31875"/>
                </a:moveTo>
                <a:lnTo>
                  <a:pt x="81934" y="43125"/>
                </a:lnTo>
                <a:moveTo>
                  <a:pt x="86320" y="60000"/>
                </a:moveTo>
                <a:lnTo>
                  <a:pt x="33680" y="60000"/>
                </a:lnTo>
                <a:moveTo>
                  <a:pt x="55613" y="105000"/>
                </a:moveTo>
                <a:lnTo>
                  <a:pt x="55613" y="82500"/>
                </a:lnTo>
                <a:lnTo>
                  <a:pt x="64387" y="82500"/>
                </a:lnTo>
                <a:lnTo>
                  <a:pt x="64387" y="105000"/>
                </a:lnTo>
              </a:path>
              <a:path extrusionOk="0" fill="none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gradFill>
            <a:gsLst>
              <a:gs pos="0">
                <a:srgbClr val="93D7DE"/>
              </a:gs>
              <a:gs pos="50000">
                <a:srgbClr val="7FD5DE"/>
              </a:gs>
              <a:gs pos="100000">
                <a:srgbClr val="6CC0C8"/>
              </a:gs>
            </a:gsLst>
            <a:lin ang="5400000" scaled="0"/>
          </a:gradFill>
          <a:ln>
            <a:noFill/>
          </a:ln>
          <a:effectLst>
            <a:outerShdw blurRad="57150" rotWithShape="0" algn="ctr" dir="5400000" dist="19050">
              <a:srgbClr val="000000">
                <a:alpha val="6313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203" name="Google Shape;203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6132" y="1413153"/>
            <a:ext cx="5319863" cy="485602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50487" y="1413153"/>
            <a:ext cx="5606550" cy="48301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210" name="Google Shape;210;p10"/>
          <p:cNvSpPr txBox="1"/>
          <p:nvPr>
            <p:ph idx="1" type="body"/>
          </p:nvPr>
        </p:nvSpPr>
        <p:spPr>
          <a:xfrm>
            <a:off x="838196" y="1409700"/>
            <a:ext cx="11117830" cy="47672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None/>
            </a:pPr>
            <a:r>
              <a:rPr lang="zh-TW" sz="2200">
                <a:latin typeface="Avenir"/>
                <a:ea typeface="Avenir"/>
                <a:cs typeface="Avenir"/>
                <a:sym typeface="Avenir"/>
              </a:rPr>
              <a:t>報銷申請流程：104 企業大師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200"/>
              <a:buNone/>
            </a:pPr>
            <a:r>
              <a:rPr b="1" lang="zh-TW" sz="2200">
                <a:latin typeface="Avenir"/>
                <a:ea typeface="Avenir"/>
                <a:cs typeface="Avenir"/>
                <a:sym typeface="Avenir"/>
              </a:rPr>
              <a:t>1. 申請與下載路徑</a:t>
            </a:r>
            <a:r>
              <a:rPr b="1" lang="zh-TW" sz="2400">
                <a:latin typeface="Avenir"/>
                <a:ea typeface="Avenir"/>
                <a:cs typeface="Avenir"/>
                <a:sym typeface="Avenir"/>
              </a:rPr>
              <a:t>：</a:t>
            </a:r>
            <a:endParaRPr b="1" sz="2200"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200"/>
              <a:buNone/>
            </a:pPr>
            <a:r>
              <a:rPr lang="zh-TW" sz="2200">
                <a:latin typeface="Avenir"/>
                <a:ea typeface="Avenir"/>
                <a:cs typeface="Avenir"/>
                <a:sym typeface="Avenir"/>
              </a:rPr>
              <a:t>路徑：104企業大師 &gt; 表單申請。</a:t>
            </a:r>
            <a:endParaRPr sz="2200"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200"/>
              <a:buNone/>
            </a:pPr>
            <a:r>
              <a:rPr lang="zh-TW" sz="2200">
                <a:latin typeface="Avenir"/>
                <a:ea typeface="Avenir"/>
                <a:cs typeface="Avenir"/>
                <a:sym typeface="Avenir"/>
              </a:rPr>
              <a:t>查詢：於表單追蹤可查詢簽核狀態並下載核准之申請單。</a:t>
            </a:r>
            <a:endParaRPr sz="2200"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200"/>
              <a:buNone/>
            </a:pPr>
            <a:r>
              <a:rPr b="1" lang="zh-TW" sz="2200">
                <a:latin typeface="Avenir"/>
                <a:ea typeface="Avenir"/>
                <a:cs typeface="Avenir"/>
                <a:sym typeface="Avenir"/>
              </a:rPr>
              <a:t>2. 表單選擇 (依需求選取)</a:t>
            </a:r>
            <a:r>
              <a:rPr b="1" lang="zh-TW" sz="2400">
                <a:latin typeface="Avenir"/>
                <a:ea typeface="Avenir"/>
                <a:cs typeface="Avenir"/>
                <a:sym typeface="Avenir"/>
              </a:rPr>
              <a:t> ：</a:t>
            </a:r>
            <a:endParaRPr b="1" sz="2200"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200"/>
              <a:buNone/>
            </a:pPr>
            <a:r>
              <a:rPr lang="zh-TW" sz="2200">
                <a:latin typeface="Avenir"/>
                <a:ea typeface="Avenir"/>
                <a:cs typeface="Avenir"/>
                <a:sym typeface="Avenir"/>
              </a:rPr>
              <a:t>費用申請：部門版 / 專案版 / 一萬元以下。</a:t>
            </a:r>
            <a:endParaRPr sz="2200"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200"/>
              <a:buNone/>
            </a:pPr>
            <a:r>
              <a:rPr lang="zh-TW" sz="2200">
                <a:latin typeface="Avenir"/>
                <a:ea typeface="Avenir"/>
                <a:cs typeface="Avenir"/>
                <a:sym typeface="Avenir"/>
              </a:rPr>
              <a:t>出差報支：出差報告暨旅費報支單。</a:t>
            </a:r>
            <a:endParaRPr sz="2200"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Pts val="2200"/>
              <a:buNone/>
            </a:pPr>
            <a:r>
              <a:rPr b="1" lang="zh-TW" sz="2200">
                <a:solidFill>
                  <a:schemeClr val="dk1"/>
                </a:solidFill>
                <a:highlight>
                  <a:srgbClr val="FFFF00"/>
                </a:highlight>
                <a:latin typeface="Avenir"/>
                <a:ea typeface="Avenir"/>
                <a:cs typeface="Avenir"/>
                <a:sym typeface="Avenir"/>
              </a:rPr>
              <a:t>3. 報銷繳交</a:t>
            </a:r>
            <a:r>
              <a:rPr b="1" lang="zh-TW" sz="2400">
                <a:solidFill>
                  <a:schemeClr val="dk1"/>
                </a:solidFill>
                <a:highlight>
                  <a:srgbClr val="FFFF00"/>
                </a:highlight>
                <a:latin typeface="Avenir"/>
                <a:ea typeface="Avenir"/>
                <a:cs typeface="Avenir"/>
                <a:sym typeface="Avenir"/>
              </a:rPr>
              <a:t>：</a:t>
            </a:r>
            <a:endParaRPr b="1" sz="2200">
              <a:solidFill>
                <a:schemeClr val="dk1"/>
              </a:solidFill>
              <a:highlight>
                <a:srgbClr val="FFFF00"/>
              </a:highlight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Pts val="2200"/>
              <a:buNone/>
            </a:pPr>
            <a:r>
              <a:rPr lang="zh-TW" sz="2200">
                <a:solidFill>
                  <a:schemeClr val="dk1"/>
                </a:solidFill>
                <a:highlight>
                  <a:srgbClr val="FFFF00"/>
                </a:highlight>
                <a:latin typeface="Avenir"/>
                <a:ea typeface="Avenir"/>
                <a:cs typeface="Avenir"/>
                <a:sym typeface="Avenir"/>
              </a:rPr>
              <a:t>準備文件：自行下載列印核准之申請單。</a:t>
            </a:r>
            <a:endParaRPr sz="2200">
              <a:solidFill>
                <a:schemeClr val="dk1"/>
              </a:solidFill>
              <a:highlight>
                <a:srgbClr val="FFFF00"/>
              </a:highlight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Pts val="2200"/>
              <a:buNone/>
            </a:pPr>
            <a:r>
              <a:rPr lang="zh-TW" sz="2200">
                <a:solidFill>
                  <a:schemeClr val="dk1"/>
                </a:solidFill>
                <a:highlight>
                  <a:srgbClr val="FFFF00"/>
                </a:highlight>
                <a:latin typeface="Avenir"/>
                <a:ea typeface="Avenir"/>
                <a:cs typeface="Avenir"/>
                <a:sym typeface="Avenir"/>
              </a:rPr>
              <a:t>單據黏貼：單據需黏貼於 A4 空白頁面上。</a:t>
            </a:r>
            <a:endParaRPr sz="2200">
              <a:solidFill>
                <a:schemeClr val="dk1"/>
              </a:solidFill>
              <a:highlight>
                <a:srgbClr val="FFFF00"/>
              </a:highlight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Pts val="2200"/>
              <a:buNone/>
            </a:pPr>
            <a:r>
              <a:rPr lang="zh-TW" sz="2200">
                <a:solidFill>
                  <a:schemeClr val="dk1"/>
                </a:solidFill>
                <a:highlight>
                  <a:srgbClr val="FFFF00"/>
                </a:highlight>
                <a:latin typeface="Avenir"/>
                <a:ea typeface="Avenir"/>
                <a:cs typeface="Avenir"/>
                <a:sym typeface="Avenir"/>
              </a:rPr>
              <a:t>送交核銷：備妥以上文件交由</a:t>
            </a:r>
            <a:r>
              <a:rPr lang="zh-TW" sz="2200">
                <a:solidFill>
                  <a:schemeClr val="dk1"/>
                </a:solidFill>
                <a:highlight>
                  <a:srgbClr val="FFFF00"/>
                </a:highlight>
              </a:rPr>
              <a:t>會計</a:t>
            </a:r>
            <a:r>
              <a:rPr lang="zh-TW" sz="2200">
                <a:solidFill>
                  <a:schemeClr val="dk1"/>
                </a:solidFill>
                <a:highlight>
                  <a:srgbClr val="FFFF00"/>
                </a:highlight>
                <a:latin typeface="Avenir"/>
                <a:ea typeface="Avenir"/>
                <a:cs typeface="Avenir"/>
                <a:sym typeface="Avenir"/>
              </a:rPr>
              <a:t>報銷。</a:t>
            </a:r>
            <a:endParaRPr sz="2200">
              <a:solidFill>
                <a:schemeClr val="dk1"/>
              </a:solidFill>
              <a:highlight>
                <a:srgbClr val="FFFF00"/>
              </a:highlight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l">
              <a:lnSpc>
                <a:spcPct val="17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r>
              <a:t/>
            </a:r>
            <a:endParaRPr sz="2400"/>
          </a:p>
        </p:txBody>
      </p:sp>
      <p:sp>
        <p:nvSpPr>
          <p:cNvPr id="211" name="Google Shape;211;p10"/>
          <p:cNvSpPr txBox="1"/>
          <p:nvPr>
            <p:ph type="title"/>
          </p:nvPr>
        </p:nvSpPr>
        <p:spPr>
          <a:xfrm>
            <a:off x="838200" y="254302"/>
            <a:ext cx="10515600" cy="95204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Avenir"/>
              <a:buNone/>
            </a:pPr>
            <a:r>
              <a:rPr lang="zh-TW">
                <a:solidFill>
                  <a:schemeClr val="dk1"/>
                </a:solidFill>
              </a:rPr>
              <a:t>報支申請單_線上版Ⅰ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12" name="Google Shape;212;p10"/>
          <p:cNvSpPr txBox="1"/>
          <p:nvPr>
            <p:ph idx="2" type="body"/>
          </p:nvPr>
        </p:nvSpPr>
        <p:spPr>
          <a:xfrm>
            <a:off x="838196" y="1027251"/>
            <a:ext cx="10515599" cy="2987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218" name="Google Shape;218;p11"/>
          <p:cNvSpPr txBox="1"/>
          <p:nvPr>
            <p:ph type="title"/>
          </p:nvPr>
        </p:nvSpPr>
        <p:spPr>
          <a:xfrm>
            <a:off x="838200" y="254302"/>
            <a:ext cx="10515600" cy="95204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Avenir"/>
              <a:buNone/>
            </a:pPr>
            <a:r>
              <a:rPr lang="zh-TW">
                <a:solidFill>
                  <a:schemeClr val="dk1"/>
                </a:solidFill>
              </a:rPr>
              <a:t>報支申請單_線上版Ⅱ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19" name="Google Shape;219;p11"/>
          <p:cNvSpPr txBox="1"/>
          <p:nvPr>
            <p:ph idx="2" type="body"/>
          </p:nvPr>
        </p:nvSpPr>
        <p:spPr>
          <a:xfrm>
            <a:off x="838196" y="1027251"/>
            <a:ext cx="10515599" cy="2987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</a:pPr>
            <a:r>
              <a:t/>
            </a:r>
            <a:endParaRPr/>
          </a:p>
        </p:txBody>
      </p:sp>
      <p:sp>
        <p:nvSpPr>
          <p:cNvPr id="220" name="Google Shape;220;p11">
            <a:hlinkClick action="ppaction://hlinksldjump" r:id="rId3"/>
          </p:cNvPr>
          <p:cNvSpPr/>
          <p:nvPr/>
        </p:nvSpPr>
        <p:spPr>
          <a:xfrm>
            <a:off x="11578741" y="6356350"/>
            <a:ext cx="556593" cy="434064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  <a:moveTo>
                  <a:pt x="60000" y="15000"/>
                </a:moveTo>
                <a:lnTo>
                  <a:pt x="24906" y="60000"/>
                </a:lnTo>
                <a:lnTo>
                  <a:pt x="33680" y="60000"/>
                </a:lnTo>
                <a:lnTo>
                  <a:pt x="33680" y="105000"/>
                </a:lnTo>
                <a:lnTo>
                  <a:pt x="86320" y="105000"/>
                </a:lnTo>
                <a:lnTo>
                  <a:pt x="86320" y="60000"/>
                </a:lnTo>
                <a:lnTo>
                  <a:pt x="95094" y="60000"/>
                </a:lnTo>
                <a:lnTo>
                  <a:pt x="81934" y="43125"/>
                </a:lnTo>
                <a:lnTo>
                  <a:pt x="81934" y="20625"/>
                </a:lnTo>
                <a:lnTo>
                  <a:pt x="73160" y="20625"/>
                </a:lnTo>
                <a:lnTo>
                  <a:pt x="73160" y="31875"/>
                </a:lnTo>
                <a:close/>
              </a:path>
              <a:path extrusionOk="0" fill="darkenLess" h="120000" w="120000">
                <a:moveTo>
                  <a:pt x="81934" y="43125"/>
                </a:moveTo>
                <a:lnTo>
                  <a:pt x="81934" y="20625"/>
                </a:lnTo>
                <a:lnTo>
                  <a:pt x="73160" y="20625"/>
                </a:lnTo>
                <a:lnTo>
                  <a:pt x="73160" y="31875"/>
                </a:lnTo>
                <a:close/>
                <a:moveTo>
                  <a:pt x="33680" y="60000"/>
                </a:moveTo>
                <a:lnTo>
                  <a:pt x="33680" y="105000"/>
                </a:lnTo>
                <a:lnTo>
                  <a:pt x="55613" y="105000"/>
                </a:lnTo>
                <a:lnTo>
                  <a:pt x="55613" y="82500"/>
                </a:lnTo>
                <a:lnTo>
                  <a:pt x="64387" y="82500"/>
                </a:lnTo>
                <a:lnTo>
                  <a:pt x="64387" y="105000"/>
                </a:lnTo>
                <a:lnTo>
                  <a:pt x="86320" y="105000"/>
                </a:lnTo>
                <a:lnTo>
                  <a:pt x="86320" y="60000"/>
                </a:lnTo>
                <a:close/>
              </a:path>
              <a:path extrusionOk="0" fill="darken" h="120000" w="120000">
                <a:moveTo>
                  <a:pt x="60000" y="15000"/>
                </a:moveTo>
                <a:lnTo>
                  <a:pt x="24906" y="60000"/>
                </a:lnTo>
                <a:lnTo>
                  <a:pt x="95094" y="60000"/>
                </a:lnTo>
                <a:close/>
                <a:moveTo>
                  <a:pt x="55613" y="82500"/>
                </a:moveTo>
                <a:lnTo>
                  <a:pt x="64387" y="82500"/>
                </a:lnTo>
                <a:lnTo>
                  <a:pt x="64387" y="105000"/>
                </a:lnTo>
                <a:lnTo>
                  <a:pt x="55613" y="105000"/>
                </a:lnTo>
                <a:close/>
              </a:path>
              <a:path extrusionOk="0" fill="none" h="120000" w="120000">
                <a:moveTo>
                  <a:pt x="60000" y="15000"/>
                </a:moveTo>
                <a:lnTo>
                  <a:pt x="73160" y="31875"/>
                </a:lnTo>
                <a:lnTo>
                  <a:pt x="73160" y="20625"/>
                </a:lnTo>
                <a:lnTo>
                  <a:pt x="81934" y="20625"/>
                </a:lnTo>
                <a:lnTo>
                  <a:pt x="81934" y="43125"/>
                </a:lnTo>
                <a:lnTo>
                  <a:pt x="95094" y="60000"/>
                </a:lnTo>
                <a:lnTo>
                  <a:pt x="86320" y="60000"/>
                </a:lnTo>
                <a:lnTo>
                  <a:pt x="86320" y="105000"/>
                </a:lnTo>
                <a:lnTo>
                  <a:pt x="33680" y="105000"/>
                </a:lnTo>
                <a:lnTo>
                  <a:pt x="33680" y="60000"/>
                </a:lnTo>
                <a:lnTo>
                  <a:pt x="24906" y="60000"/>
                </a:lnTo>
                <a:close/>
                <a:moveTo>
                  <a:pt x="73160" y="31875"/>
                </a:moveTo>
                <a:lnTo>
                  <a:pt x="81934" y="43125"/>
                </a:lnTo>
                <a:moveTo>
                  <a:pt x="86320" y="60000"/>
                </a:moveTo>
                <a:lnTo>
                  <a:pt x="33680" y="60000"/>
                </a:lnTo>
                <a:moveTo>
                  <a:pt x="55613" y="105000"/>
                </a:moveTo>
                <a:lnTo>
                  <a:pt x="55613" y="82500"/>
                </a:lnTo>
                <a:lnTo>
                  <a:pt x="64387" y="82500"/>
                </a:lnTo>
                <a:lnTo>
                  <a:pt x="64387" y="105000"/>
                </a:lnTo>
              </a:path>
              <a:path extrusionOk="0" fill="none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gradFill>
            <a:gsLst>
              <a:gs pos="0">
                <a:srgbClr val="93D7DE"/>
              </a:gs>
              <a:gs pos="50000">
                <a:srgbClr val="7FD5DE"/>
              </a:gs>
              <a:gs pos="100000">
                <a:srgbClr val="6CC0C8"/>
              </a:gs>
            </a:gsLst>
            <a:lin ang="5400000" scaled="0"/>
          </a:gradFill>
          <a:ln>
            <a:noFill/>
          </a:ln>
          <a:effectLst>
            <a:outerShdw blurRad="57150" rotWithShape="0" algn="ctr" dir="5400000" dist="19050">
              <a:srgbClr val="000000">
                <a:alpha val="6313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descr="一張含有 文字, 螢幕擷取畫面, 軟體, 數字 的圖片&#10;&#10;AI 產生的內容可能不正確。" id="221" name="Google Shape;221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27354" y="1384099"/>
            <a:ext cx="7895304" cy="49289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227" name="Google Shape;227;p20"/>
          <p:cNvSpPr txBox="1"/>
          <p:nvPr>
            <p:ph type="title"/>
          </p:nvPr>
        </p:nvSpPr>
        <p:spPr>
          <a:xfrm>
            <a:off x="838200" y="254302"/>
            <a:ext cx="10515600" cy="95204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Avenir"/>
              <a:buNone/>
            </a:pPr>
            <a:r>
              <a:rPr lang="zh-TW">
                <a:solidFill>
                  <a:schemeClr val="dk1"/>
                </a:solidFill>
              </a:rPr>
              <a:t>其他注意事項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28" name="Google Shape;228;p20"/>
          <p:cNvSpPr txBox="1"/>
          <p:nvPr>
            <p:ph idx="2" type="body"/>
          </p:nvPr>
        </p:nvSpPr>
        <p:spPr>
          <a:xfrm>
            <a:off x="838196" y="1027251"/>
            <a:ext cx="10515599" cy="2987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</a:pPr>
            <a:r>
              <a:t/>
            </a:r>
            <a:endParaRPr/>
          </a:p>
        </p:txBody>
      </p:sp>
      <p:sp>
        <p:nvSpPr>
          <p:cNvPr id="229" name="Google Shape;229;p20">
            <a:hlinkClick action="ppaction://hlinksldjump" r:id="rId3"/>
          </p:cNvPr>
          <p:cNvSpPr/>
          <p:nvPr/>
        </p:nvSpPr>
        <p:spPr>
          <a:xfrm>
            <a:off x="11578741" y="6356350"/>
            <a:ext cx="556593" cy="434064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  <a:moveTo>
                  <a:pt x="60000" y="15000"/>
                </a:moveTo>
                <a:lnTo>
                  <a:pt x="24906" y="60000"/>
                </a:lnTo>
                <a:lnTo>
                  <a:pt x="33680" y="60000"/>
                </a:lnTo>
                <a:lnTo>
                  <a:pt x="33680" y="105000"/>
                </a:lnTo>
                <a:lnTo>
                  <a:pt x="86320" y="105000"/>
                </a:lnTo>
                <a:lnTo>
                  <a:pt x="86320" y="60000"/>
                </a:lnTo>
                <a:lnTo>
                  <a:pt x="95094" y="60000"/>
                </a:lnTo>
                <a:lnTo>
                  <a:pt x="81934" y="43125"/>
                </a:lnTo>
                <a:lnTo>
                  <a:pt x="81934" y="20625"/>
                </a:lnTo>
                <a:lnTo>
                  <a:pt x="73160" y="20625"/>
                </a:lnTo>
                <a:lnTo>
                  <a:pt x="73160" y="31875"/>
                </a:lnTo>
                <a:close/>
              </a:path>
              <a:path extrusionOk="0" fill="darkenLess" h="120000" w="120000">
                <a:moveTo>
                  <a:pt x="81934" y="43125"/>
                </a:moveTo>
                <a:lnTo>
                  <a:pt x="81934" y="20625"/>
                </a:lnTo>
                <a:lnTo>
                  <a:pt x="73160" y="20625"/>
                </a:lnTo>
                <a:lnTo>
                  <a:pt x="73160" y="31875"/>
                </a:lnTo>
                <a:close/>
                <a:moveTo>
                  <a:pt x="33680" y="60000"/>
                </a:moveTo>
                <a:lnTo>
                  <a:pt x="33680" y="105000"/>
                </a:lnTo>
                <a:lnTo>
                  <a:pt x="55613" y="105000"/>
                </a:lnTo>
                <a:lnTo>
                  <a:pt x="55613" y="82500"/>
                </a:lnTo>
                <a:lnTo>
                  <a:pt x="64387" y="82500"/>
                </a:lnTo>
                <a:lnTo>
                  <a:pt x="64387" y="105000"/>
                </a:lnTo>
                <a:lnTo>
                  <a:pt x="86320" y="105000"/>
                </a:lnTo>
                <a:lnTo>
                  <a:pt x="86320" y="60000"/>
                </a:lnTo>
                <a:close/>
              </a:path>
              <a:path extrusionOk="0" fill="darken" h="120000" w="120000">
                <a:moveTo>
                  <a:pt x="60000" y="15000"/>
                </a:moveTo>
                <a:lnTo>
                  <a:pt x="24906" y="60000"/>
                </a:lnTo>
                <a:lnTo>
                  <a:pt x="95094" y="60000"/>
                </a:lnTo>
                <a:close/>
                <a:moveTo>
                  <a:pt x="55613" y="82500"/>
                </a:moveTo>
                <a:lnTo>
                  <a:pt x="64387" y="82500"/>
                </a:lnTo>
                <a:lnTo>
                  <a:pt x="64387" y="105000"/>
                </a:lnTo>
                <a:lnTo>
                  <a:pt x="55613" y="105000"/>
                </a:lnTo>
                <a:close/>
              </a:path>
              <a:path extrusionOk="0" fill="none" h="120000" w="120000">
                <a:moveTo>
                  <a:pt x="60000" y="15000"/>
                </a:moveTo>
                <a:lnTo>
                  <a:pt x="73160" y="31875"/>
                </a:lnTo>
                <a:lnTo>
                  <a:pt x="73160" y="20625"/>
                </a:lnTo>
                <a:lnTo>
                  <a:pt x="81934" y="20625"/>
                </a:lnTo>
                <a:lnTo>
                  <a:pt x="81934" y="43125"/>
                </a:lnTo>
                <a:lnTo>
                  <a:pt x="95094" y="60000"/>
                </a:lnTo>
                <a:lnTo>
                  <a:pt x="86320" y="60000"/>
                </a:lnTo>
                <a:lnTo>
                  <a:pt x="86320" y="105000"/>
                </a:lnTo>
                <a:lnTo>
                  <a:pt x="33680" y="105000"/>
                </a:lnTo>
                <a:lnTo>
                  <a:pt x="33680" y="60000"/>
                </a:lnTo>
                <a:lnTo>
                  <a:pt x="24906" y="60000"/>
                </a:lnTo>
                <a:close/>
                <a:moveTo>
                  <a:pt x="73160" y="31875"/>
                </a:moveTo>
                <a:lnTo>
                  <a:pt x="81934" y="43125"/>
                </a:lnTo>
                <a:moveTo>
                  <a:pt x="86320" y="60000"/>
                </a:moveTo>
                <a:lnTo>
                  <a:pt x="33680" y="60000"/>
                </a:lnTo>
                <a:moveTo>
                  <a:pt x="55613" y="105000"/>
                </a:moveTo>
                <a:lnTo>
                  <a:pt x="55613" y="82500"/>
                </a:lnTo>
                <a:lnTo>
                  <a:pt x="64387" y="82500"/>
                </a:lnTo>
                <a:lnTo>
                  <a:pt x="64387" y="105000"/>
                </a:lnTo>
              </a:path>
              <a:path extrusionOk="0" fill="none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gradFill>
            <a:gsLst>
              <a:gs pos="0">
                <a:srgbClr val="93D7DE"/>
              </a:gs>
              <a:gs pos="50000">
                <a:srgbClr val="7FD5DE"/>
              </a:gs>
              <a:gs pos="100000">
                <a:srgbClr val="6CC0C8"/>
              </a:gs>
            </a:gsLst>
            <a:lin ang="5400000" scaled="0"/>
          </a:gradFill>
          <a:ln>
            <a:noFill/>
          </a:ln>
          <a:effectLst>
            <a:outerShdw blurRad="57150" rotWithShape="0" algn="ctr" dir="5400000" dist="19050">
              <a:srgbClr val="000000">
                <a:alpha val="6313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grpSp>
        <p:nvGrpSpPr>
          <p:cNvPr id="230" name="Google Shape;230;p20"/>
          <p:cNvGrpSpPr/>
          <p:nvPr/>
        </p:nvGrpSpPr>
        <p:grpSpPr>
          <a:xfrm>
            <a:off x="442475" y="1493400"/>
            <a:ext cx="3444600" cy="4672500"/>
            <a:chOff x="442475" y="1493400"/>
            <a:chExt cx="3444600" cy="4672500"/>
          </a:xfrm>
        </p:grpSpPr>
        <p:sp>
          <p:nvSpPr>
            <p:cNvPr id="231" name="Google Shape;231;p20"/>
            <p:cNvSpPr/>
            <p:nvPr/>
          </p:nvSpPr>
          <p:spPr>
            <a:xfrm>
              <a:off x="442475" y="1493400"/>
              <a:ext cx="3411900" cy="46725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254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1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" name="Google Shape;232;p20"/>
            <p:cNvSpPr txBox="1"/>
            <p:nvPr/>
          </p:nvSpPr>
          <p:spPr>
            <a:xfrm>
              <a:off x="442475" y="1665300"/>
              <a:ext cx="3444600" cy="4238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5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lang="zh-TW" sz="2000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一、 原始憑證處理</a:t>
              </a:r>
              <a:endParaRPr b="1" sz="20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  <a:p>
              <a:pPr indent="0" lvl="0" marL="0" rtl="0" algn="l">
                <a:lnSpc>
                  <a:spcPct val="15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lang="zh-TW" sz="2000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1.</a:t>
              </a:r>
              <a:r>
                <a:rPr lang="zh-TW" sz="2000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排版規範：</a:t>
              </a:r>
              <a:endParaRPr/>
            </a:p>
            <a:p>
              <a:pPr indent="0" lvl="0" marL="0" rtl="0" algn="l">
                <a:lnSpc>
                  <a:spcPct val="15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lang="zh-TW" sz="2000">
                  <a:solidFill>
                    <a:schemeClr val="dk1"/>
                  </a:solidFill>
                  <a:highlight>
                    <a:srgbClr val="FFFF00"/>
                  </a:highlight>
                  <a:latin typeface="Microsoft JhengHei"/>
                  <a:ea typeface="Microsoft JhengHei"/>
                  <a:cs typeface="Microsoft JhengHei"/>
                  <a:sym typeface="Microsoft JhengHei"/>
                </a:rPr>
                <a:t>整齊貼於 A4 紙，上下預留 1~2 公分空白處</a:t>
              </a:r>
              <a:r>
                <a:rPr lang="zh-TW" sz="2000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。</a:t>
              </a:r>
              <a:endParaRPr sz="20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  <a:p>
              <a:pPr indent="0" lvl="0" marL="0" rtl="0" algn="l">
                <a:lnSpc>
                  <a:spcPct val="15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zh-TW" sz="2000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2.廢紙利用：</a:t>
              </a:r>
              <a:endParaRPr/>
            </a:p>
            <a:p>
              <a:pPr indent="0" lvl="0" marL="0" rtl="0" algn="l">
                <a:lnSpc>
                  <a:spcPct val="15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zh-TW" sz="2000">
                  <a:solidFill>
                    <a:schemeClr val="dk1"/>
                  </a:solidFill>
                  <a:highlight>
                    <a:srgbClr val="FFFF00"/>
                  </a:highlight>
                  <a:latin typeface="Microsoft JhengHei"/>
                  <a:ea typeface="Microsoft JhengHei"/>
                  <a:cs typeface="Microsoft JhengHei"/>
                  <a:sym typeface="Microsoft JhengHei"/>
                </a:rPr>
                <a:t>若使用回收紙，請統一黏貼於空白面；原舊有內容面請劃大叉 ❌</a:t>
              </a:r>
              <a:r>
                <a:rPr lang="zh-TW" sz="2000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。</a:t>
              </a:r>
              <a:endParaRPr sz="2800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grpSp>
        <p:nvGrpSpPr>
          <p:cNvPr id="233" name="Google Shape;233;p20"/>
          <p:cNvGrpSpPr/>
          <p:nvPr/>
        </p:nvGrpSpPr>
        <p:grpSpPr>
          <a:xfrm>
            <a:off x="4306525" y="1493275"/>
            <a:ext cx="3444625" cy="4672500"/>
            <a:chOff x="4306525" y="1493275"/>
            <a:chExt cx="3444625" cy="4672500"/>
          </a:xfrm>
        </p:grpSpPr>
        <p:sp>
          <p:nvSpPr>
            <p:cNvPr id="234" name="Google Shape;234;p20"/>
            <p:cNvSpPr/>
            <p:nvPr/>
          </p:nvSpPr>
          <p:spPr>
            <a:xfrm>
              <a:off x="4306525" y="1493275"/>
              <a:ext cx="3411900" cy="46725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254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1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" name="Google Shape;235;p20"/>
            <p:cNvSpPr txBox="1"/>
            <p:nvPr/>
          </p:nvSpPr>
          <p:spPr>
            <a:xfrm>
              <a:off x="4335950" y="1665300"/>
              <a:ext cx="3415200" cy="437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lang="zh-TW" sz="2000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二、填寫驗收單：</a:t>
              </a:r>
              <a:endParaRPr/>
            </a:p>
            <a:p>
              <a:pPr indent="0" lvl="0" marL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000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1.驗收流程：</a:t>
              </a:r>
              <a:endParaRPr sz="20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  <a:p>
              <a:pPr indent="0" lvl="0" marL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zh-TW" sz="2000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請購單位+採購單位共同就採購內容進行驗收。</a:t>
              </a:r>
              <a:endParaRPr/>
            </a:p>
            <a:p>
              <a:pPr indent="0" lvl="0" marL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000">
                  <a:solidFill>
                    <a:schemeClr val="dk1"/>
                  </a:solidFill>
                  <a:highlight>
                    <a:srgbClr val="FFFF00"/>
                  </a:highlight>
                  <a:latin typeface="Microsoft JhengHei"/>
                  <a:ea typeface="Microsoft JhengHei"/>
                  <a:cs typeface="Microsoft JhengHei"/>
                  <a:sym typeface="Microsoft JhengHei"/>
                </a:rPr>
                <a:t>2.檢附文件：</a:t>
              </a:r>
              <a:endParaRPr sz="2000">
                <a:solidFill>
                  <a:schemeClr val="dk1"/>
                </a:solidFill>
                <a:highlight>
                  <a:srgbClr val="FFFF00"/>
                </a:highlight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  <a:p>
              <a:pPr indent="0" lvl="0" marL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lang="zh-TW" sz="2000">
                  <a:solidFill>
                    <a:schemeClr val="dk1"/>
                  </a:solidFill>
                  <a:highlight>
                    <a:srgbClr val="FFFF00"/>
                  </a:highlight>
                  <a:latin typeface="Microsoft JhengHei"/>
                  <a:ea typeface="Microsoft JhengHei"/>
                  <a:cs typeface="Microsoft JhengHei"/>
                  <a:sym typeface="Microsoft JhengHei"/>
                </a:rPr>
                <a:t>送貨單、驗收文件（如：對帳報表、檔案、圖片）</a:t>
              </a:r>
              <a:r>
                <a:rPr b="1" lang="zh-TW" sz="2000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。</a:t>
              </a:r>
              <a:endParaRPr>
                <a:solidFill>
                  <a:schemeClr val="dk1"/>
                </a:solidFill>
              </a:endParaRPr>
            </a:p>
            <a:p>
              <a:pPr indent="0" lvl="0" marL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000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3.核決程序：</a:t>
              </a:r>
              <a:endParaRPr sz="20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  <a:p>
              <a:pPr indent="0" lvl="0" marL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zh-TW" sz="2000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依核決權限呈權責主管核准。</a:t>
              </a:r>
              <a:endParaRPr sz="2800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grpSp>
        <p:nvGrpSpPr>
          <p:cNvPr id="236" name="Google Shape;236;p20"/>
          <p:cNvGrpSpPr/>
          <p:nvPr/>
        </p:nvGrpSpPr>
        <p:grpSpPr>
          <a:xfrm>
            <a:off x="8170575" y="1493275"/>
            <a:ext cx="3579025" cy="4741800"/>
            <a:chOff x="8170575" y="1493275"/>
            <a:chExt cx="3579025" cy="4741800"/>
          </a:xfrm>
        </p:grpSpPr>
        <p:sp>
          <p:nvSpPr>
            <p:cNvPr id="237" name="Google Shape;237;p20"/>
            <p:cNvSpPr/>
            <p:nvPr/>
          </p:nvSpPr>
          <p:spPr>
            <a:xfrm>
              <a:off x="8170600" y="1493275"/>
              <a:ext cx="3579000" cy="47418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254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125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" name="Google Shape;238;p20"/>
            <p:cNvSpPr txBox="1"/>
            <p:nvPr/>
          </p:nvSpPr>
          <p:spPr>
            <a:xfrm>
              <a:off x="8170575" y="1686263"/>
              <a:ext cx="3579000" cy="430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lang="zh-TW" sz="2000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三、 廠商匯款資訊</a:t>
              </a:r>
              <a:endParaRPr sz="20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  <a:p>
              <a:pPr indent="0" lvl="0" marL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zh-TW" sz="1600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1.國內廠商</a:t>
              </a:r>
              <a:endParaRPr sz="16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  <a:p>
              <a:pPr indent="0" lvl="0" marL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zh-TW" sz="1600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提供銀行名稱+</a:t>
              </a:r>
              <a:r>
                <a:rPr b="1" lang="zh-TW" sz="1600">
                  <a:solidFill>
                    <a:schemeClr val="dk1"/>
                  </a:solidFill>
                  <a:highlight>
                    <a:srgbClr val="FFFF00"/>
                  </a:highlight>
                  <a:latin typeface="Microsoft JhengHei"/>
                  <a:ea typeface="Microsoft JhengHei"/>
                  <a:cs typeface="Microsoft JhengHei"/>
                  <a:sym typeface="Microsoft JhengHei"/>
                </a:rPr>
                <a:t>分行</a:t>
              </a:r>
              <a:r>
                <a:rPr lang="zh-TW" sz="1600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、戶名、帳號。</a:t>
              </a:r>
              <a:endParaRPr sz="16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  <a:p>
              <a:pPr indent="0" lvl="0" marL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zh-TW" sz="1600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2.國外廠商 </a:t>
              </a:r>
              <a:endParaRPr>
                <a:solidFill>
                  <a:schemeClr val="dk1"/>
                </a:solidFill>
              </a:endParaRPr>
            </a:p>
            <a:p>
              <a:pPr indent="0" lvl="0" marL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zh-TW" sz="1600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(請提供完整英文資訊)</a:t>
              </a:r>
              <a:endParaRPr sz="16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  <a:p>
              <a:pPr indent="0" lvl="0" marL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zh-TW" sz="1600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(1)受款人名稱、地址及電話-</a:t>
              </a:r>
              <a:r>
                <a:rPr b="1" lang="zh-TW" sz="1600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Beneficiary Name &amp; Address &amp; TEL. NO. </a:t>
              </a:r>
              <a:r>
                <a:rPr lang="zh-TW" sz="1600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。</a:t>
              </a:r>
              <a:endParaRPr>
                <a:solidFill>
                  <a:schemeClr val="dk1"/>
                </a:solidFill>
              </a:endParaRPr>
            </a:p>
            <a:p>
              <a:pPr indent="0" lvl="0" marL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zh-TW" sz="1600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(2</a:t>
              </a:r>
              <a:r>
                <a:rPr b="1" lang="zh-TW" sz="1600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)</a:t>
              </a:r>
              <a:r>
                <a:rPr lang="zh-TW" sz="1600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受款人帳號-</a:t>
              </a:r>
              <a:r>
                <a:rPr b="1" lang="zh-TW" sz="1600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Account NO. </a:t>
              </a:r>
              <a:r>
                <a:rPr lang="zh-TW" sz="1600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。</a:t>
              </a:r>
              <a:endParaRPr>
                <a:solidFill>
                  <a:schemeClr val="dk1"/>
                </a:solidFill>
              </a:endParaRPr>
            </a:p>
            <a:p>
              <a:pPr indent="0" lvl="0" marL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zh-TW" sz="1600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(3)受款銀行名稱及地址-</a:t>
              </a:r>
              <a:r>
                <a:rPr b="1" lang="zh-TW" sz="1600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Beneficiary Bank Name &amp; Address </a:t>
              </a:r>
              <a:r>
                <a:rPr lang="zh-TW" sz="1600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：。</a:t>
              </a:r>
              <a:endParaRPr>
                <a:solidFill>
                  <a:schemeClr val="dk1"/>
                </a:solidFill>
              </a:endParaRPr>
            </a:p>
            <a:p>
              <a:pPr indent="0" lvl="0" marL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zh-TW" sz="1600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(4)銀行識別碼-</a:t>
              </a:r>
              <a:r>
                <a:rPr b="1" lang="zh-TW" sz="1600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SWIFT Code </a:t>
              </a:r>
              <a:r>
                <a:rPr lang="zh-TW" sz="1600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。</a:t>
              </a:r>
              <a:endParaRPr sz="2800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佈景主題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uring主題">
  <a:themeElements>
    <a:clrScheme name="Turing Drive's color">
      <a:dk1>
        <a:srgbClr val="242A33"/>
      </a:dk1>
      <a:lt1>
        <a:srgbClr val="FFFFFF"/>
      </a:lt1>
      <a:dk2>
        <a:srgbClr val="FFFFFF"/>
      </a:dk2>
      <a:lt2>
        <a:srgbClr val="E7BF40"/>
      </a:lt2>
      <a:accent1>
        <a:srgbClr val="404040"/>
      </a:accent1>
      <a:accent2>
        <a:srgbClr val="2CA5BC"/>
      </a:accent2>
      <a:accent3>
        <a:srgbClr val="85D2DA"/>
      </a:accent3>
      <a:accent4>
        <a:srgbClr val="1979B0"/>
      </a:accent4>
      <a:accent5>
        <a:srgbClr val="4A75BA"/>
      </a:accent5>
      <a:accent6>
        <a:srgbClr val="005AA9"/>
      </a:accent6>
      <a:hlink>
        <a:srgbClr val="404040"/>
      </a:hlink>
      <a:folHlink>
        <a:srgbClr val="40404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Turing主題">
  <a:themeElements>
    <a:clrScheme name="Turing Drive's color">
      <a:dk1>
        <a:srgbClr val="242A33"/>
      </a:dk1>
      <a:lt1>
        <a:srgbClr val="FFFFFF"/>
      </a:lt1>
      <a:dk2>
        <a:srgbClr val="FFFFFF"/>
      </a:dk2>
      <a:lt2>
        <a:srgbClr val="E7BF40"/>
      </a:lt2>
      <a:accent1>
        <a:srgbClr val="404040"/>
      </a:accent1>
      <a:accent2>
        <a:srgbClr val="2CA5BC"/>
      </a:accent2>
      <a:accent3>
        <a:srgbClr val="85D2DA"/>
      </a:accent3>
      <a:accent4>
        <a:srgbClr val="1979B0"/>
      </a:accent4>
      <a:accent5>
        <a:srgbClr val="4A75BA"/>
      </a:accent5>
      <a:accent6>
        <a:srgbClr val="005AA9"/>
      </a:accent6>
      <a:hlink>
        <a:srgbClr val="404040"/>
      </a:hlink>
      <a:folHlink>
        <a:srgbClr val="40404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2024-03-12T06:16:49Z</dcterms:created>
  <dc:creator>真慧 李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0x0101004C11427D07E4B94B8C5853232B2D785F</vt:lpwstr>
  </property>
  <property fmtid="{D5CDD505-2E9C-101B-9397-08002B2CF9AE}" pid="3" name="MediaServiceImageTags">
    <vt:lpwstr/>
  </property>
</Properties>
</file>